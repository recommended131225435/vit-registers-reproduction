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486c980-481b-802b-83c2-868db0496add}">
          <p14:sldIdLst>
            <p14:sldId id="256"/>
            <p14:sldId id="257"/>
            <p14:sldId id="258"/>
          </p14:sldIdLst>
        </p14:section>
        <p14:section name="Reproduction" id="{48c5713d-3979-8dad-fca3-348767ddf65b}">
          <p14:sldIdLst>
            <p14:sldId id="259"/>
            <p14:sldId id="260"/>
            <p14:sldId id="261"/>
            <p14:sldId id="262"/>
          </p14:sldIdLst>
        </p14:section>
        <p14:section name="Experiment" id="{7641899c-19e1-1f48-09ab-1fca87565091}">
          <p14:sldIdLst>
            <p14:sldId id="263"/>
            <p14:sldId id="264"/>
            <p14:sldId id="265"/>
            <p14:sldId id="266"/>
          </p14:sldIdLst>
        </p14:section>
        <p14:section name="Deployment" id="{1ec01067-383f-44d0-8676-ee0a8d8948b0}">
          <p14:sldIdLst>
            <p14:sldId id="267"/>
          </p14:sldIdLst>
        </p14:section>
        <p14:section name="Conclusion" id="{468b0098-f53a-6235-ee36-41cc1b0c996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1A2B"/>
                </a:solidFill>
                <a:latin typeface="+mn-lt"/>
              </a:defRPr>
            </a:pPr>
            <a:r>
              <a:rPr sz="1400" b="0" i="0" u="none" strike="noStrike">
                <a:solidFill>
                  <a:srgbClr val="1C1A2B"/>
                </a:solidFill>
                <a:latin typeface="+mn-lt"/>
              </a:rPr>
              <a:t>Validation accuracy per epoch (%)</a:t>
            </a:r>
          </a:p>
        </c:rich>
      </c:tx>
      <c:layout/>
      <c:overlay val="0"/>
    </c:title>
    <c:autoTitleDeleted val="0"/>
    <c:plotArea>
      <c:layout/>
      <c:lineChart>
        <c:varyColors val="0"/>
        <c:ser>
          <c:idx val="0"/>
          <c:order val="0"/>
          <c:tx>
            <c:strRef>
              <c:f>Sheet1!$B$1</c:f>
              <c:strCache>
                <c:ptCount val="1"/>
                <c:pt idx="0">
                  <c:v>0 registers</c:v>
                </c:pt>
              </c:strCache>
            </c:strRef>
          </c:tx>
          <c:spPr>
            <a:solidFill>
              <a:srgbClr val="FF7F0E"/>
            </a:solidFill>
            <a:ln w="25400" cap="flat">
              <a:solidFill>
                <a:srgbClr val="FF7F0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7F0E"/>
              </a:solidFill>
              <a:ln w="9525" cap="flat">
                <a:solidFill>
                  <a:srgbClr val="FF7F0E"/>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Sheet1!$B$2:$B$51</c:f>
              <c:numCache>
                <c:formatCode>General</c:formatCode>
                <c:ptCount val="50"/>
                <c:pt idx="0">
                  <c:v>6.15</c:v>
                </c:pt>
                <c:pt idx="1">
                  <c:v>11.15</c:v>
                </c:pt>
                <c:pt idx="2">
                  <c:v>13.95</c:v>
                </c:pt>
                <c:pt idx="3">
                  <c:v>15.87</c:v>
                </c:pt>
                <c:pt idx="4">
                  <c:v>15.99</c:v>
                </c:pt>
                <c:pt idx="5">
                  <c:v>19.29</c:v>
                </c:pt>
                <c:pt idx="6">
                  <c:v>22.61</c:v>
                </c:pt>
                <c:pt idx="7">
                  <c:v>23.96</c:v>
                </c:pt>
                <c:pt idx="8">
                  <c:v>26.28</c:v>
                </c:pt>
                <c:pt idx="9">
                  <c:v>26.82</c:v>
                </c:pt>
                <c:pt idx="10">
                  <c:v>29.2</c:v>
                </c:pt>
                <c:pt idx="11">
                  <c:v>31.99</c:v>
                </c:pt>
                <c:pt idx="12">
                  <c:v>31.03</c:v>
                </c:pt>
                <c:pt idx="13">
                  <c:v>32.74</c:v>
                </c:pt>
                <c:pt idx="14">
                  <c:v>34.14</c:v>
                </c:pt>
                <c:pt idx="15">
                  <c:v>35.18</c:v>
                </c:pt>
                <c:pt idx="16">
                  <c:v>35.63</c:v>
                </c:pt>
                <c:pt idx="17">
                  <c:v>37.02</c:v>
                </c:pt>
                <c:pt idx="18">
                  <c:v>36.41</c:v>
                </c:pt>
                <c:pt idx="19">
                  <c:v>36.17</c:v>
                </c:pt>
                <c:pt idx="20">
                  <c:v>37.35</c:v>
                </c:pt>
                <c:pt idx="21">
                  <c:v>37.76</c:v>
                </c:pt>
                <c:pt idx="22">
                  <c:v>37.64</c:v>
                </c:pt>
                <c:pt idx="23">
                  <c:v>38.58</c:v>
                </c:pt>
                <c:pt idx="24">
                  <c:v>38.42</c:v>
                </c:pt>
                <c:pt idx="25">
                  <c:v>37.26</c:v>
                </c:pt>
                <c:pt idx="26">
                  <c:v>38.44</c:v>
                </c:pt>
                <c:pt idx="27">
                  <c:v>38.15</c:v>
                </c:pt>
                <c:pt idx="28">
                  <c:v>37.96</c:v>
                </c:pt>
                <c:pt idx="29">
                  <c:v>38.44</c:v>
                </c:pt>
                <c:pt idx="30">
                  <c:v>38.35</c:v>
                </c:pt>
                <c:pt idx="31">
                  <c:v>38.72</c:v>
                </c:pt>
                <c:pt idx="32">
                  <c:v>38.33</c:v>
                </c:pt>
                <c:pt idx="33">
                  <c:v>38.56</c:v>
                </c:pt>
                <c:pt idx="34">
                  <c:v>38.15</c:v>
                </c:pt>
                <c:pt idx="35">
                  <c:v>38.12</c:v>
                </c:pt>
                <c:pt idx="36">
                  <c:v>38.18</c:v>
                </c:pt>
                <c:pt idx="37">
                  <c:v>38.84</c:v>
                </c:pt>
                <c:pt idx="38">
                  <c:v>39.29</c:v>
                </c:pt>
                <c:pt idx="39">
                  <c:v>38.93</c:v>
                </c:pt>
                <c:pt idx="40">
                  <c:v>38.92</c:v>
                </c:pt>
                <c:pt idx="41">
                  <c:v>38.97</c:v>
                </c:pt>
                <c:pt idx="42">
                  <c:v>39.01</c:v>
                </c:pt>
                <c:pt idx="43">
                  <c:v>39</c:v>
                </c:pt>
                <c:pt idx="44">
                  <c:v>39.03</c:v>
                </c:pt>
                <c:pt idx="45">
                  <c:v>39.04</c:v>
                </c:pt>
                <c:pt idx="46">
                  <c:v>38.99</c:v>
                </c:pt>
                <c:pt idx="47">
                  <c:v>38.91</c:v>
                </c:pt>
                <c:pt idx="48">
                  <c:v>39</c:v>
                </c:pt>
                <c:pt idx="49">
                  <c:v>38.99</c:v>
                </c:pt>
              </c:numCache>
            </c:numRef>
          </c:val>
          <c:smooth val="0"/>
        </c:ser>
        <c:ser>
          <c:idx val="1"/>
          <c:order val="1"/>
          <c:tx>
            <c:strRef>
              <c:f>Sheet1!$C$1</c:f>
              <c:strCache>
                <c:ptCount val="1"/>
                <c:pt idx="0">
                  <c:v>4 registers</c:v>
                </c:pt>
              </c:strCache>
            </c:strRef>
          </c:tx>
          <c:spPr>
            <a:solidFill>
              <a:srgbClr val="1F77B4"/>
            </a:solidFill>
            <a:ln w="25400" cap="flat">
              <a:solidFill>
                <a:srgbClr val="1F77B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77B4"/>
              </a:solidFill>
              <a:ln w="9525" cap="flat">
                <a:solidFill>
                  <a:srgbClr val="1F77B4"/>
                </a:solidFill>
                <a:prstDash val="solid"/>
                <a:round/>
              </a:ln>
              <a:effectLst/>
            </c:spPr>
          </c:marker>
          <c:cat>
            <c:multiLvlStrRef>
              <c:f>Sheet1!$A$2:$A$51</c:f>
              <c:multiLvlStrCache>
                <c:ptCount val="5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lvl>
              </c:multiLvlStrCache>
            </c:multiLvlStrRef>
          </c:cat>
          <c:val>
            <c:numRef>
              <c:f>Sheet1!$C$2:$C$51</c:f>
              <c:numCache>
                <c:formatCode>General</c:formatCode>
                <c:ptCount val="50"/>
                <c:pt idx="0">
                  <c:v>5.93</c:v>
                </c:pt>
                <c:pt idx="1">
                  <c:v>11.24</c:v>
                </c:pt>
                <c:pt idx="2">
                  <c:v>13.49</c:v>
                </c:pt>
                <c:pt idx="3">
                  <c:v>15.58</c:v>
                </c:pt>
                <c:pt idx="4">
                  <c:v>16.2</c:v>
                </c:pt>
                <c:pt idx="5">
                  <c:v>18.59</c:v>
                </c:pt>
                <c:pt idx="6">
                  <c:v>20.45</c:v>
                </c:pt>
                <c:pt idx="7">
                  <c:v>22.87</c:v>
                </c:pt>
                <c:pt idx="8">
                  <c:v>24.52</c:v>
                </c:pt>
                <c:pt idx="9">
                  <c:v>27.66</c:v>
                </c:pt>
                <c:pt idx="10">
                  <c:v>28.64</c:v>
                </c:pt>
                <c:pt idx="11">
                  <c:v>30.73</c:v>
                </c:pt>
                <c:pt idx="12">
                  <c:v>31.24</c:v>
                </c:pt>
                <c:pt idx="13">
                  <c:v>32.4</c:v>
                </c:pt>
                <c:pt idx="14">
                  <c:v>33.16</c:v>
                </c:pt>
                <c:pt idx="15">
                  <c:v>34.83</c:v>
                </c:pt>
                <c:pt idx="16">
                  <c:v>34.76</c:v>
                </c:pt>
                <c:pt idx="17">
                  <c:v>35.67</c:v>
                </c:pt>
                <c:pt idx="18">
                  <c:v>36.48</c:v>
                </c:pt>
                <c:pt idx="19">
                  <c:v>35.64</c:v>
                </c:pt>
                <c:pt idx="20">
                  <c:v>36.73</c:v>
                </c:pt>
                <c:pt idx="21">
                  <c:v>37.22</c:v>
                </c:pt>
                <c:pt idx="22">
                  <c:v>37.73</c:v>
                </c:pt>
                <c:pt idx="23">
                  <c:v>37.78</c:v>
                </c:pt>
                <c:pt idx="24">
                  <c:v>37.02</c:v>
                </c:pt>
                <c:pt idx="25">
                  <c:v>37.4</c:v>
                </c:pt>
                <c:pt idx="26">
                  <c:v>37.56</c:v>
                </c:pt>
                <c:pt idx="27">
                  <c:v>37.24</c:v>
                </c:pt>
                <c:pt idx="28">
                  <c:v>37.71</c:v>
                </c:pt>
                <c:pt idx="29">
                  <c:v>37.19</c:v>
                </c:pt>
                <c:pt idx="30">
                  <c:v>37.46</c:v>
                </c:pt>
                <c:pt idx="31">
                  <c:v>37.74</c:v>
                </c:pt>
                <c:pt idx="32">
                  <c:v>37.61</c:v>
                </c:pt>
                <c:pt idx="33">
                  <c:v>37.21</c:v>
                </c:pt>
                <c:pt idx="34">
                  <c:v>37.79</c:v>
                </c:pt>
                <c:pt idx="35">
                  <c:v>36.78</c:v>
                </c:pt>
                <c:pt idx="36">
                  <c:v>37.09</c:v>
                </c:pt>
                <c:pt idx="37">
                  <c:v>37.86</c:v>
                </c:pt>
                <c:pt idx="38">
                  <c:v>37.55</c:v>
                </c:pt>
                <c:pt idx="39">
                  <c:v>37.89</c:v>
                </c:pt>
                <c:pt idx="40">
                  <c:v>37.9</c:v>
                </c:pt>
                <c:pt idx="41">
                  <c:v>37.77</c:v>
                </c:pt>
                <c:pt idx="42">
                  <c:v>37.8</c:v>
                </c:pt>
                <c:pt idx="43">
                  <c:v>37.82</c:v>
                </c:pt>
                <c:pt idx="44">
                  <c:v>37.85</c:v>
                </c:pt>
                <c:pt idx="45">
                  <c:v>38.09</c:v>
                </c:pt>
                <c:pt idx="46">
                  <c:v>37.91</c:v>
                </c:pt>
                <c:pt idx="47">
                  <c:v>38.04</c:v>
                </c:pt>
                <c:pt idx="48">
                  <c:v>37.95</c:v>
                </c:pt>
                <c:pt idx="49">
                  <c:v>37.86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880"/>
                </a:solidFill>
                <a:latin typeface="+mn-lt"/>
              </a:defRPr>
            </a:pPr>
            <a:endParaRPr lang="en-US"/>
          </a:p>
        </c:txPr>
        <c:crossAx val="2094734552"/>
        <c:crosses val="autoZero"/>
        <c:auto val="1"/>
        <c:lblAlgn val="ctr"/>
        <c:noMultiLvlLbl val="1"/>
        <c:tickLblSkip val="5"/>
      </c:catAx>
      <c:valAx>
        <c:axId val="2094734552"/>
        <c:scaling>
          <c:orientation val="minMax"/>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8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Hamza and Shaheer. We reproduced the ICLR 2024 paper Vision Transformers Need Registers, ran our own experiment on it, and deployed it as a web app. Everything is in our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own measurement on Meta's DINOv2 ViT-g. In the middle column, without registers, the attention has random yellow squares in the background, often at the edges. On the right, with registers, the attention sits on the fish and the person. The paper explains these spots and fixes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has three steps. Diagnosis: the spots are tokens with a very large norm, about 2% of them, on redundant background. Explanation: the model reuses useless patches as scratch space for global information. Fix: add a few extra tokens called registers, which are discarded at the output, so the patches stay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worked in four parts. Part A uses Meta's released models to check the paper's claims directly. Part B is our own implementation, trained on Tiny-ImageNet because ImageNet is too big for a free GPU. Then our experiment on model size, and finally the deployed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headline number: 2.62% of ViT-g's tokens are above the paper's cutoff, very close to the paper's 2.37%. With registers, zero. The histogram shows the second hump of huge tokens in orange, and it disappears in blue. One detail we found: the norms must be measured before the final LayerNorm, which hides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of the six diagnostic claims reproduce. The size claim is partial: we only see clear outliers in ViT-g, while the paper also sees them in ViT-L. Meta's released smaller models were distilled from ViT-g, unlike the separately trained models in the paper, which likely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our own ViT-Tiny for 50 epochs on Tiny-ImageNet. Both versions learn the same way and end around 38 to 39 percent, about one point apart. The paper reports almost no change. With one run each we cannot tell if one point is real or noise, so we call this partly reproduced. Absolute accuracy is low because the model is tiny and the images are 64 by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says artifacts only appear in large, long-trained models, but it shows this for one training method on huge data. We can only train small models, so we asked: what happens at the small end? We change only model size, keep everything else fixed, and measure the artifacts in our own trained models, next to Meta's large models from Part A. One lesson on the way: with the learning rate of our first runs, 1e-3, the Base models collapsed after the warm-up, so we retrained all six models at 2.5e-4, which is what the DeiT paper's rule gives for our batch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of our experiment. On the left, the share of outlier tokens; on the right, the largest token divided by the median. Circles are our own models, triangles are Meta's DINOv2. All six of our models, from 5 to 85 million parameters, stay at zero outliers, and the largest token never reaches the 3x line in the last block. Clear outliers only appear at the top of the axis, in DINOv2 giant. Our Base model has the same size as DINOv2 Base, but it saw 100 thousand small images for 50 epochs instead of 142 million images, and the paper says artifacts need both size and long training. So our answer is: at the sizes we can train, the artifacts do not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our models: on the left, the largest-to-median norm after every block stays below 3 for all models. On the right, accuracy and register use. The registers get about 6 percent of the attention, which is what four tokens out of 69 would get by chance, so the model does not really use them. In DINOv2 giant, one register has a norm 13 times a normal patch. Accuracy changes by less than one point with registers, with no consistent sign. One more lesson: with our first learning rate of 1e-3, ViT-Base collapsed, so we retrained all six models at 2.5e-4 before comparing.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that went wrong, and what we learned from it. Our first experiment runs used the learning rate of our earlier ViT-Tiny runs, 1e-3. ViT-Tiny was fine, ViT-Small trained worse, and ViT-Base completely collapsed once the learning rate reached its peak: it ended at around 9 to 10 percent accuracy. If we had measured those broken models, the size comparison would have been meaningless. So we retrained all six models at 2.5e-4, the value the DeiT rule gives for our batch size, and every size trained normally. The failed runs are still reported in our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We upload a photo of sky above grass. On the left, DINOv2-Large without registers puts its attention on one random square of empty sky: that is the paper's artifact. On the right, with registers, the attention moves to the grass, the only real content. The norm maps show no outliers at this size, which matches Part A: only the giant model has clear norm outliers. Below, our own ViT-Tiny gives its top-5 classes; sky is not one of its 200 classes, so it guesses scenery like barn and alp. The same thing is available as a JSON API, with documentation at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paper's diagnosis holds on its own models, and registers remove the artifacts. We learned that where you measure matters. Our experiment shows when the problem appears. The limits are our compute, the smaller dataset and single seeds.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03320"/>
            <a:ext cx="106984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Vision Transformers Need Registers — reproduction</a:t>
            </a:r>
            <a:endParaRPr lang="en-US" sz="10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645920"/>
          </a:xfrm>
          <a:prstGeom prst="rect">
            <a:avLst/>
          </a:prstGeom>
          <a:noFill/>
          <a:ln/>
        </p:spPr>
        <p:txBody>
          <a:bodyPr wrap="square" rtlCol="0" anchor="b"/>
          <a:lstStyle/>
          <a:p>
            <a:pPr algn="l" indent="0" marL="0">
              <a:buNone/>
            </a:pPr>
            <a:r>
              <a:rPr lang="en-US" sz="4400" b="1" dirty="0">
                <a:solidFill>
                  <a:schemeClr val="bg1"/>
                </a:solidFill>
              </a:rPr>
              <a:t>Vision Transformers Need Registers</a:t>
            </a:r>
            <a:endParaRPr lang="en-US" sz="4400" dirty="0"/>
          </a:p>
        </p:txBody>
      </p:sp>
      <p:sp>
        <p:nvSpPr>
          <p:cNvPr id="3" name="Text 0"/>
          <p:cNvSpPr/>
          <p:nvPr>
            <p:ph idx="101" type="body" hasCustomPrompt="1"/>
          </p:nvPr>
        </p:nvSpPr>
        <p:spPr>
          <a:xfrm>
            <a:off x="731520" y="3703320"/>
            <a:ext cx="10698480" cy="1463040"/>
          </a:xfrm>
          <a:prstGeom prst="rect">
            <a:avLst/>
          </a:prstGeom>
          <a:noFill/>
          <a:ln/>
        </p:spPr>
        <p:txBody>
          <a:bodyPr wrap="square" rtlCol="0" anchor="t"/>
          <a:lstStyle/>
          <a:p>
            <a:pPr indent="0" marL="0">
              <a:buNone/>
            </a:pPr>
            <a:r>
              <a:rPr lang="en-US" sz="1800" dirty="0">
                <a:solidFill>
                  <a:schemeClr val="bg2"/>
                </a:solidFill>
              </a:rPr>
              <a:t>Reproduction, experiment and deployment of Darcet et al., ICLR 2024</a:t>
            </a:r>
            <a:endParaRPr lang="en-US" sz="1800" dirty="0"/>
          </a:p>
          <a:p>
            <a:pPr indent="0" marL="0">
              <a:buNone/>
            </a:pPr>
            <a:r>
              <a:rPr lang="en-US" sz="1800" dirty="0">
                <a:solidFill>
                  <a:srgbClr val="FDE725"/>
                </a:solidFill>
              </a:rPr>
              <a:t>Muhammad Hamza Uzair (30544)  ·  Shaheer Ahmed (31543)</a:t>
            </a:r>
            <a:endParaRPr lang="en-US" sz="1800" dirty="0"/>
          </a:p>
          <a:p>
            <a:pPr indent="0" marL="0">
              <a:buNone/>
            </a:pPr>
            <a:r>
              <a:rPr lang="en-US" sz="1400" dirty="0">
                <a:solidFill>
                  <a:schemeClr val="bg2"/>
                </a:solidFill>
              </a:rPr>
              <a:t>github.com/recommended131225435/vit-registers-reproduction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Big ViTs look at empty background</a:t>
            </a:r>
            <a:endParaRPr lang="en-US" sz="3200" dirty="0"/>
          </a:p>
        </p:txBody>
      </p:sp>
      <p:pic>
        <p:nvPicPr>
          <p:cNvPr id="3" name="attention maps ViT-g" descr="/home/claude/repo/report/assets/attention_vitg.png">    </p:cNvPr>
          <p:cNvPicPr>
            <a:picLocks noChangeAspect="1"/>
          </p:cNvPicPr>
          <p:nvPr/>
        </p:nvPicPr>
        <p:blipFill>
          <a:blip r:embed="rId1"/>
          <a:stretch>
            <a:fillRect/>
          </a:stretch>
        </p:blipFill>
        <p:spPr>
          <a:xfrm>
            <a:off x="6720840" y="1325880"/>
            <a:ext cx="4846320" cy="4846320"/>
          </a:xfrm>
          <a:prstGeom prst="rect">
            <a:avLst/>
          </a:prstGeom>
        </p:spPr>
      </p:pic>
      <p:sp>
        <p:nvSpPr>
          <p:cNvPr id="4" name="Text 1"/>
          <p:cNvSpPr txBox="1"/>
          <p:nvPr/>
        </p:nvSpPr>
        <p:spPr>
          <a:xfrm>
            <a:off x="6675120" y="6144768"/>
            <a:ext cx="4937760" cy="274320"/>
          </a:xfrm>
          <a:prstGeom prst="rect">
            <a:avLst/>
          </a:prstGeom>
          <a:noFill/>
          <a:ln/>
        </p:spPr>
        <p:txBody>
          <a:bodyPr wrap="square" lIns="0" tIns="0" rIns="0" bIns="0" rtlCol="0" anchor="ctr"/>
          <a:lstStyle/>
          <a:p>
            <a:pPr algn="ctr" indent="0" marL="0">
              <a:buNone/>
            </a:pPr>
            <a:r>
              <a:rPr lang="en-US" sz="1200" dirty="0">
                <a:solidFill>
                  <a:schemeClr val="accent5"/>
                </a:solidFill>
              </a:rPr>
              <a:t>photo</a:t>
            </a:r>
            <a:pPr algn="ctr" indent="0" marL="0">
              <a:buNone/>
            </a:pPr>
            <a:r>
              <a:rPr lang="en-US" sz="1200" b="1" dirty="0">
                <a:solidFill>
                  <a:srgbClr val="FF7F0E"/>
                </a:solidFill>
              </a:rPr>
              <a:t>      no registers      </a:t>
            </a:r>
            <a:pPr algn="ctr" indent="0" marL="0">
              <a:buNone/>
            </a:pPr>
            <a:r>
              <a:rPr lang="en-US" sz="1200" b="1" dirty="0">
                <a:solidFill>
                  <a:srgbClr val="1F77B4"/>
                </a:solidFill>
              </a:rPr>
              <a:t>with registers</a:t>
            </a:r>
            <a:endParaRPr lang="en-US" sz="1200" dirty="0"/>
          </a:p>
        </p:txBody>
      </p:sp>
      <p:sp>
        <p:nvSpPr>
          <p:cNvPr id="5" name="Text 2"/>
          <p:cNvSpPr txBox="1"/>
          <p:nvPr/>
        </p:nvSpPr>
        <p:spPr>
          <a:xfrm>
            <a:off x="548640" y="1463040"/>
            <a:ext cx="5760720" cy="4389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 Vision Transformer cuts an image into patches; [CLS] attention shows where it looks</a:t>
            </a:r>
            <a:endParaRPr lang="en-US" sz="1600" dirty="0"/>
          </a:p>
          <a:p>
            <a:pPr marL="342900" indent="-342900">
              <a:spcAft>
                <a:spcPts val="800"/>
              </a:spcAft>
              <a:buSzPct val="100000"/>
              <a:buChar char="•"/>
            </a:pPr>
            <a:r>
              <a:rPr lang="en-US" sz="1600" dirty="0">
                <a:solidFill>
                  <a:schemeClr val="tx1"/>
                </a:solidFill>
              </a:rPr>
              <a:t>In large models (DINOv2, CLIP, DeiT-III) this map has bright spots on empty background</a:t>
            </a:r>
            <a:endParaRPr lang="en-US" sz="1600" dirty="0"/>
          </a:p>
          <a:p>
            <a:pPr marL="342900" indent="-342900">
              <a:spcAft>
                <a:spcPts val="800"/>
              </a:spcAft>
              <a:buSzPct val="100000"/>
              <a:buChar char="•"/>
            </a:pPr>
            <a:r>
              <a:rPr lang="en-US" sz="1600" dirty="0">
                <a:solidFill>
                  <a:schemeClr val="tx1"/>
                </a:solidFill>
              </a:rPr>
              <a:t>These spots make the maps meaningless and hurt tasks that need clean patch features</a:t>
            </a:r>
            <a:endParaRPr lang="en-US" sz="1600" dirty="0"/>
          </a:p>
          <a:p>
            <a:pPr marL="342900" indent="-342900">
              <a:spcAft>
                <a:spcPts val="800"/>
              </a:spcAft>
              <a:buSzPct val="100000"/>
              <a:buChar char="•"/>
            </a:pPr>
            <a:r>
              <a:rPr lang="en-US" sz="1600" dirty="0">
                <a:solidFill>
                  <a:schemeClr val="tx1"/>
                </a:solidFill>
              </a:rPr>
              <a:t>The paper asks: what are these spots, why do they appear, and how can we remove them?</a:t>
            </a:r>
            <a:endParaRPr lang="en-US" sz="16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The idea: give the model scratch space</a:t>
            </a:r>
            <a:endParaRPr lang="en-US" sz="3200" dirty="0"/>
          </a:p>
        </p:txBody>
      </p:sp>
      <p:sp>
        <p:nvSpPr>
          <p:cNvPr id="3" name="card Diagnosis"/>
          <p:cNvSpPr/>
          <p:nvPr/>
        </p:nvSpPr>
        <p:spPr>
          <a:xfrm>
            <a:off x="548640" y="1371600"/>
            <a:ext cx="3566160" cy="2103120"/>
          </a:xfrm>
          <a:prstGeom prst="roundRect">
            <a:avLst>
              <a:gd name="adj" fmla="val 5217"/>
            </a:avLst>
          </a:prstGeom>
          <a:solidFill>
            <a:schemeClr val="bg2"/>
          </a:solidFill>
          <a:ln w="12700">
            <a:solidFill>
              <a:schemeClr val="bg2"/>
            </a:solidFill>
            <a:prstDash val="solid"/>
          </a:ln>
        </p:spPr>
      </p:sp>
      <p:sp>
        <p:nvSpPr>
          <p:cNvPr id="4" name="Shape 2"/>
          <p:cNvSpPr/>
          <p:nvPr/>
        </p:nvSpPr>
        <p:spPr>
          <a:xfrm>
            <a:off x="777240" y="1627632"/>
            <a:ext cx="329184" cy="329184"/>
          </a:xfrm>
          <a:prstGeom prst="ellipse">
            <a:avLst/>
          </a:prstGeom>
          <a:solidFill>
            <a:schemeClr val="accent2"/>
          </a:solidFill>
          <a:ln w="12700">
            <a:solidFill>
              <a:schemeClr val="accent2"/>
            </a:solidFill>
            <a:prstDash val="solid"/>
          </a:ln>
        </p:spPr>
      </p:sp>
      <p:sp>
        <p:nvSpPr>
          <p:cNvPr id="5" name="Text 3"/>
          <p:cNvSpPr txBox="1"/>
          <p:nvPr/>
        </p:nvSpPr>
        <p:spPr>
          <a:xfrm>
            <a:off x="1234440" y="1554480"/>
            <a:ext cx="2697480" cy="475488"/>
          </a:xfrm>
          <a:prstGeom prst="rect">
            <a:avLst/>
          </a:prstGeom>
          <a:noFill/>
          <a:ln/>
        </p:spPr>
        <p:txBody>
          <a:bodyPr wrap="square" lIns="0" tIns="0" rIns="0" bIns="0" rtlCol="0" anchor="ctr"/>
          <a:lstStyle/>
          <a:p>
            <a:pPr indent="0" marL="0">
              <a:buNone/>
            </a:pPr>
            <a:r>
              <a:rPr lang="en-US" sz="1700" b="1" dirty="0">
                <a:solidFill>
                  <a:schemeClr val="tx1"/>
                </a:solidFill>
              </a:rPr>
              <a:t>Diagnosis</a:t>
            </a:r>
            <a:endParaRPr lang="en-US" sz="1700" dirty="0"/>
          </a:p>
        </p:txBody>
      </p:sp>
      <p:sp>
        <p:nvSpPr>
          <p:cNvPr id="6" name="Text 4"/>
          <p:cNvSpPr txBox="1"/>
          <p:nvPr/>
        </p:nvSpPr>
        <p:spPr>
          <a:xfrm>
            <a:off x="777240" y="2148840"/>
            <a:ext cx="3108960" cy="1188720"/>
          </a:xfrm>
          <a:prstGeom prst="rect">
            <a:avLst/>
          </a:prstGeom>
          <a:noFill/>
          <a:ln/>
        </p:spPr>
        <p:txBody>
          <a:bodyPr wrap="square" lIns="0" tIns="0" rIns="0" bIns="0" rtlCol="0" anchor="t"/>
          <a:lstStyle/>
          <a:p>
            <a:pPr indent="0" marL="0">
              <a:buNone/>
            </a:pPr>
            <a:r>
              <a:rPr lang="en-US" sz="1400" dirty="0">
                <a:solidFill>
                  <a:schemeClr val="tx1"/>
                </a:solidFill>
              </a:rPr>
              <a:t>About 2% of patch tokens become ~10× longer than normal. They sit on boring background and hold global, not local, information.</a:t>
            </a:r>
            <a:endParaRPr lang="en-US" sz="1400" dirty="0"/>
          </a:p>
        </p:txBody>
      </p:sp>
      <p:sp>
        <p:nvSpPr>
          <p:cNvPr id="7" name="card Explanation"/>
          <p:cNvSpPr/>
          <p:nvPr/>
        </p:nvSpPr>
        <p:spPr>
          <a:xfrm>
            <a:off x="4315968" y="1371600"/>
            <a:ext cx="3566160" cy="2103120"/>
          </a:xfrm>
          <a:prstGeom prst="roundRect">
            <a:avLst>
              <a:gd name="adj" fmla="val 5217"/>
            </a:avLst>
          </a:prstGeom>
          <a:solidFill>
            <a:schemeClr val="bg2"/>
          </a:solidFill>
          <a:ln w="12700">
            <a:solidFill>
              <a:schemeClr val="bg2"/>
            </a:solidFill>
            <a:prstDash val="solid"/>
          </a:ln>
        </p:spPr>
      </p:sp>
      <p:sp>
        <p:nvSpPr>
          <p:cNvPr id="8" name="Shape 6"/>
          <p:cNvSpPr/>
          <p:nvPr/>
        </p:nvSpPr>
        <p:spPr>
          <a:xfrm>
            <a:off x="4544568" y="1627632"/>
            <a:ext cx="329184" cy="329184"/>
          </a:xfrm>
          <a:prstGeom prst="ellipse">
            <a:avLst/>
          </a:prstGeom>
          <a:solidFill>
            <a:schemeClr val="accent6"/>
          </a:solidFill>
          <a:ln w="12700">
            <a:solidFill>
              <a:schemeClr val="accent6"/>
            </a:solidFill>
            <a:prstDash val="solid"/>
          </a:ln>
        </p:spPr>
      </p:sp>
      <p:sp>
        <p:nvSpPr>
          <p:cNvPr id="9" name="Text 7"/>
          <p:cNvSpPr txBox="1"/>
          <p:nvPr/>
        </p:nvSpPr>
        <p:spPr>
          <a:xfrm>
            <a:off x="5001768" y="1554480"/>
            <a:ext cx="2697480" cy="475488"/>
          </a:xfrm>
          <a:prstGeom prst="rect">
            <a:avLst/>
          </a:prstGeom>
          <a:noFill/>
          <a:ln/>
        </p:spPr>
        <p:txBody>
          <a:bodyPr wrap="square" lIns="0" tIns="0" rIns="0" bIns="0" rtlCol="0" anchor="ctr"/>
          <a:lstStyle/>
          <a:p>
            <a:pPr indent="0" marL="0">
              <a:buNone/>
            </a:pPr>
            <a:r>
              <a:rPr lang="en-US" sz="1700" b="1" dirty="0">
                <a:solidFill>
                  <a:schemeClr val="tx1"/>
                </a:solidFill>
              </a:rPr>
              <a:t>Explanation</a:t>
            </a:r>
            <a:endParaRPr lang="en-US" sz="1700" dirty="0"/>
          </a:p>
        </p:txBody>
      </p:sp>
      <p:sp>
        <p:nvSpPr>
          <p:cNvPr id="10" name="Text 8"/>
          <p:cNvSpPr txBox="1"/>
          <p:nvPr/>
        </p:nvSpPr>
        <p:spPr>
          <a:xfrm>
            <a:off x="4544568" y="2148840"/>
            <a:ext cx="3108960" cy="1188720"/>
          </a:xfrm>
          <a:prstGeom prst="rect">
            <a:avLst/>
          </a:prstGeom>
          <a:noFill/>
          <a:ln/>
        </p:spPr>
        <p:txBody>
          <a:bodyPr wrap="square" lIns="0" tIns="0" rIns="0" bIns="0" rtlCol="0" anchor="t"/>
          <a:lstStyle/>
          <a:p>
            <a:pPr indent="0" marL="0">
              <a:buNone/>
            </a:pPr>
            <a:r>
              <a:rPr lang="en-US" sz="1400" dirty="0">
                <a:solidFill>
                  <a:schemeClr val="tx1"/>
                </a:solidFill>
              </a:rPr>
              <a:t>A large model needs space for global computation, so it takes over patches it considers useless.</a:t>
            </a:r>
            <a:endParaRPr lang="en-US" sz="1400" dirty="0"/>
          </a:p>
        </p:txBody>
      </p:sp>
      <p:sp>
        <p:nvSpPr>
          <p:cNvPr id="11" name="card Fix: registers"/>
          <p:cNvSpPr/>
          <p:nvPr/>
        </p:nvSpPr>
        <p:spPr>
          <a:xfrm>
            <a:off x="8083296" y="1371600"/>
            <a:ext cx="3566160" cy="2103120"/>
          </a:xfrm>
          <a:prstGeom prst="roundRect">
            <a:avLst>
              <a:gd name="adj" fmla="val 5217"/>
            </a:avLst>
          </a:prstGeom>
          <a:solidFill>
            <a:schemeClr val="bg2"/>
          </a:solidFill>
          <a:ln w="12700">
            <a:solidFill>
              <a:schemeClr val="bg2"/>
            </a:solidFill>
            <a:prstDash val="solid"/>
          </a:ln>
        </p:spPr>
      </p:sp>
      <p:sp>
        <p:nvSpPr>
          <p:cNvPr id="12" name="Shape 10"/>
          <p:cNvSpPr/>
          <p:nvPr/>
        </p:nvSpPr>
        <p:spPr>
          <a:xfrm>
            <a:off x="8311896" y="1627632"/>
            <a:ext cx="329184" cy="329184"/>
          </a:xfrm>
          <a:prstGeom prst="ellipse">
            <a:avLst/>
          </a:prstGeom>
          <a:solidFill>
            <a:schemeClr val="accent3"/>
          </a:solidFill>
          <a:ln w="12700">
            <a:solidFill>
              <a:schemeClr val="accent3"/>
            </a:solidFill>
            <a:prstDash val="solid"/>
          </a:ln>
        </p:spPr>
      </p:sp>
      <p:sp>
        <p:nvSpPr>
          <p:cNvPr id="13" name="Text 11"/>
          <p:cNvSpPr txBox="1"/>
          <p:nvPr/>
        </p:nvSpPr>
        <p:spPr>
          <a:xfrm>
            <a:off x="8769096" y="1554480"/>
            <a:ext cx="2697480" cy="475488"/>
          </a:xfrm>
          <a:prstGeom prst="rect">
            <a:avLst/>
          </a:prstGeom>
          <a:noFill/>
          <a:ln/>
        </p:spPr>
        <p:txBody>
          <a:bodyPr wrap="square" lIns="0" tIns="0" rIns="0" bIns="0" rtlCol="0" anchor="ctr"/>
          <a:lstStyle/>
          <a:p>
            <a:pPr indent="0" marL="0">
              <a:buNone/>
            </a:pPr>
            <a:r>
              <a:rPr lang="en-US" sz="1700" b="1" dirty="0">
                <a:solidFill>
                  <a:schemeClr val="tx1"/>
                </a:solidFill>
              </a:rPr>
              <a:t>Fix: registers</a:t>
            </a:r>
            <a:endParaRPr lang="en-US" sz="1700" dirty="0"/>
          </a:p>
        </p:txBody>
      </p:sp>
      <p:sp>
        <p:nvSpPr>
          <p:cNvPr id="14" name="Text 12"/>
          <p:cNvSpPr txBox="1"/>
          <p:nvPr/>
        </p:nvSpPr>
        <p:spPr>
          <a:xfrm>
            <a:off x="8311896" y="2148840"/>
            <a:ext cx="3108960" cy="1188720"/>
          </a:xfrm>
          <a:prstGeom prst="rect">
            <a:avLst/>
          </a:prstGeom>
          <a:noFill/>
          <a:ln/>
        </p:spPr>
        <p:txBody>
          <a:bodyPr wrap="square" lIns="0" tIns="0" rIns="0" bIns="0" rtlCol="0" anchor="t"/>
          <a:lstStyle/>
          <a:p>
            <a:pPr indent="0" marL="0">
              <a:buNone/>
            </a:pPr>
            <a:r>
              <a:rPr lang="en-US" sz="1400" dirty="0">
                <a:solidFill>
                  <a:schemeClr val="tx1"/>
                </a:solidFill>
              </a:rPr>
              <a:t>Add 4 learnable tokens with no image content and no position. The model uses them instead; they are dropped at the output.</a:t>
            </a:r>
            <a:endParaRPr lang="en-US" sz="1400" dirty="0"/>
          </a:p>
        </p:txBody>
      </p:sp>
      <p:sp>
        <p:nvSpPr>
          <p:cNvPr id="15" name="Shape 13"/>
          <p:cNvSpPr/>
          <p:nvPr/>
        </p:nvSpPr>
        <p:spPr>
          <a:xfrm>
            <a:off x="822960" y="4343400"/>
            <a:ext cx="932688" cy="566928"/>
          </a:xfrm>
          <a:prstGeom prst="roundRect">
            <a:avLst>
              <a:gd name="adj" fmla="val 12903"/>
            </a:avLst>
          </a:prstGeom>
          <a:solidFill>
            <a:schemeClr val="accent5"/>
          </a:solidFill>
          <a:ln w="12700">
            <a:solidFill>
              <a:schemeClr val="accent5"/>
            </a:solidFill>
            <a:prstDash val="solid"/>
          </a:ln>
        </p:spPr>
      </p:sp>
      <p:sp>
        <p:nvSpPr>
          <p:cNvPr id="16" name="Text 14"/>
          <p:cNvSpPr txBox="1"/>
          <p:nvPr/>
        </p:nvSpPr>
        <p:spPr>
          <a:xfrm>
            <a:off x="822960"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[CLS]</a:t>
            </a:r>
            <a:endParaRPr lang="en-US" sz="1300" dirty="0"/>
          </a:p>
        </p:txBody>
      </p:sp>
      <p:sp>
        <p:nvSpPr>
          <p:cNvPr id="17" name="Shape 15"/>
          <p:cNvSpPr/>
          <p:nvPr/>
        </p:nvSpPr>
        <p:spPr>
          <a:xfrm>
            <a:off x="1901952" y="4343400"/>
            <a:ext cx="932688" cy="566928"/>
          </a:xfrm>
          <a:prstGeom prst="roundRect">
            <a:avLst>
              <a:gd name="adj" fmla="val 12903"/>
            </a:avLst>
          </a:prstGeom>
          <a:solidFill>
            <a:schemeClr val="accent3"/>
          </a:solidFill>
          <a:ln w="12700">
            <a:solidFill>
              <a:schemeClr val="accent3"/>
            </a:solidFill>
            <a:prstDash val="solid"/>
          </a:ln>
        </p:spPr>
      </p:sp>
      <p:sp>
        <p:nvSpPr>
          <p:cNvPr id="18" name="Text 16"/>
          <p:cNvSpPr txBox="1"/>
          <p:nvPr/>
        </p:nvSpPr>
        <p:spPr>
          <a:xfrm>
            <a:off x="1901952"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REG</a:t>
            </a:r>
            <a:endParaRPr lang="en-US" sz="1300" dirty="0"/>
          </a:p>
        </p:txBody>
      </p:sp>
      <p:sp>
        <p:nvSpPr>
          <p:cNvPr id="19" name="Shape 17"/>
          <p:cNvSpPr/>
          <p:nvPr/>
        </p:nvSpPr>
        <p:spPr>
          <a:xfrm>
            <a:off x="2980944" y="4343400"/>
            <a:ext cx="932688" cy="566928"/>
          </a:xfrm>
          <a:prstGeom prst="roundRect">
            <a:avLst>
              <a:gd name="adj" fmla="val 12903"/>
            </a:avLst>
          </a:prstGeom>
          <a:solidFill>
            <a:schemeClr val="accent3"/>
          </a:solidFill>
          <a:ln w="12700">
            <a:solidFill>
              <a:schemeClr val="accent3"/>
            </a:solidFill>
            <a:prstDash val="solid"/>
          </a:ln>
        </p:spPr>
      </p:sp>
      <p:sp>
        <p:nvSpPr>
          <p:cNvPr id="20" name="Text 18"/>
          <p:cNvSpPr txBox="1"/>
          <p:nvPr/>
        </p:nvSpPr>
        <p:spPr>
          <a:xfrm>
            <a:off x="2980944"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REG</a:t>
            </a:r>
            <a:endParaRPr lang="en-US" sz="1300" dirty="0"/>
          </a:p>
        </p:txBody>
      </p:sp>
      <p:sp>
        <p:nvSpPr>
          <p:cNvPr id="21" name="Shape 19"/>
          <p:cNvSpPr/>
          <p:nvPr/>
        </p:nvSpPr>
        <p:spPr>
          <a:xfrm>
            <a:off x="4059936" y="4343400"/>
            <a:ext cx="932688" cy="566928"/>
          </a:xfrm>
          <a:prstGeom prst="roundRect">
            <a:avLst>
              <a:gd name="adj" fmla="val 12903"/>
            </a:avLst>
          </a:prstGeom>
          <a:solidFill>
            <a:schemeClr val="accent3"/>
          </a:solidFill>
          <a:ln w="12700">
            <a:solidFill>
              <a:schemeClr val="accent3"/>
            </a:solidFill>
            <a:prstDash val="solid"/>
          </a:ln>
        </p:spPr>
      </p:sp>
      <p:sp>
        <p:nvSpPr>
          <p:cNvPr id="22" name="Text 20"/>
          <p:cNvSpPr txBox="1"/>
          <p:nvPr/>
        </p:nvSpPr>
        <p:spPr>
          <a:xfrm>
            <a:off x="4059936"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REG</a:t>
            </a:r>
            <a:endParaRPr lang="en-US" sz="1300" dirty="0"/>
          </a:p>
        </p:txBody>
      </p:sp>
      <p:sp>
        <p:nvSpPr>
          <p:cNvPr id="23" name="Shape 21"/>
          <p:cNvSpPr/>
          <p:nvPr/>
        </p:nvSpPr>
        <p:spPr>
          <a:xfrm>
            <a:off x="5138928" y="4343400"/>
            <a:ext cx="932688" cy="566928"/>
          </a:xfrm>
          <a:prstGeom prst="roundRect">
            <a:avLst>
              <a:gd name="adj" fmla="val 12903"/>
            </a:avLst>
          </a:prstGeom>
          <a:solidFill>
            <a:schemeClr val="accent3"/>
          </a:solidFill>
          <a:ln w="12700">
            <a:solidFill>
              <a:schemeClr val="accent3"/>
            </a:solidFill>
            <a:prstDash val="solid"/>
          </a:ln>
        </p:spPr>
      </p:sp>
      <p:sp>
        <p:nvSpPr>
          <p:cNvPr id="24" name="Text 22"/>
          <p:cNvSpPr txBox="1"/>
          <p:nvPr/>
        </p:nvSpPr>
        <p:spPr>
          <a:xfrm>
            <a:off x="5138928"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REG</a:t>
            </a:r>
            <a:endParaRPr lang="en-US" sz="1300" dirty="0"/>
          </a:p>
        </p:txBody>
      </p:sp>
      <p:sp>
        <p:nvSpPr>
          <p:cNvPr id="25" name="Shape 23"/>
          <p:cNvSpPr/>
          <p:nvPr/>
        </p:nvSpPr>
        <p:spPr>
          <a:xfrm>
            <a:off x="6217920" y="4343400"/>
            <a:ext cx="932688" cy="566928"/>
          </a:xfrm>
          <a:prstGeom prst="roundRect">
            <a:avLst>
              <a:gd name="adj" fmla="val 12903"/>
            </a:avLst>
          </a:prstGeom>
          <a:solidFill>
            <a:schemeClr val="accent1"/>
          </a:solidFill>
          <a:ln w="12700">
            <a:solidFill>
              <a:schemeClr val="accent1"/>
            </a:solidFill>
            <a:prstDash val="solid"/>
          </a:ln>
        </p:spPr>
      </p:sp>
      <p:sp>
        <p:nvSpPr>
          <p:cNvPr id="26" name="Text 24"/>
          <p:cNvSpPr txBox="1"/>
          <p:nvPr/>
        </p:nvSpPr>
        <p:spPr>
          <a:xfrm>
            <a:off x="6217920"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patch</a:t>
            </a:r>
            <a:endParaRPr lang="en-US" sz="1300" dirty="0"/>
          </a:p>
        </p:txBody>
      </p:sp>
      <p:sp>
        <p:nvSpPr>
          <p:cNvPr id="27" name="Shape 25"/>
          <p:cNvSpPr/>
          <p:nvPr/>
        </p:nvSpPr>
        <p:spPr>
          <a:xfrm>
            <a:off x="7296912" y="4343400"/>
            <a:ext cx="932688" cy="566928"/>
          </a:xfrm>
          <a:prstGeom prst="roundRect">
            <a:avLst>
              <a:gd name="adj" fmla="val 12903"/>
            </a:avLst>
          </a:prstGeom>
          <a:solidFill>
            <a:schemeClr val="accent1"/>
          </a:solidFill>
          <a:ln w="12700">
            <a:solidFill>
              <a:schemeClr val="accent1"/>
            </a:solidFill>
            <a:prstDash val="solid"/>
          </a:ln>
        </p:spPr>
      </p:sp>
      <p:sp>
        <p:nvSpPr>
          <p:cNvPr id="28" name="Text 26"/>
          <p:cNvSpPr txBox="1"/>
          <p:nvPr/>
        </p:nvSpPr>
        <p:spPr>
          <a:xfrm>
            <a:off x="7296912"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patch</a:t>
            </a:r>
            <a:endParaRPr lang="en-US" sz="1300" dirty="0"/>
          </a:p>
        </p:txBody>
      </p:sp>
      <p:sp>
        <p:nvSpPr>
          <p:cNvPr id="29" name="Shape 27"/>
          <p:cNvSpPr/>
          <p:nvPr/>
        </p:nvSpPr>
        <p:spPr>
          <a:xfrm>
            <a:off x="8375904" y="4343400"/>
            <a:ext cx="932688" cy="566928"/>
          </a:xfrm>
          <a:prstGeom prst="roundRect">
            <a:avLst>
              <a:gd name="adj" fmla="val 12903"/>
            </a:avLst>
          </a:prstGeom>
          <a:solidFill>
            <a:schemeClr val="accent1"/>
          </a:solidFill>
          <a:ln w="12700">
            <a:solidFill>
              <a:schemeClr val="accent1"/>
            </a:solidFill>
            <a:prstDash val="solid"/>
          </a:ln>
        </p:spPr>
      </p:sp>
      <p:sp>
        <p:nvSpPr>
          <p:cNvPr id="30" name="Text 28"/>
          <p:cNvSpPr txBox="1"/>
          <p:nvPr/>
        </p:nvSpPr>
        <p:spPr>
          <a:xfrm>
            <a:off x="8375904"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patch</a:t>
            </a:r>
            <a:endParaRPr lang="en-US" sz="1300" dirty="0"/>
          </a:p>
        </p:txBody>
      </p:sp>
      <p:sp>
        <p:nvSpPr>
          <p:cNvPr id="31" name="Shape 29"/>
          <p:cNvSpPr/>
          <p:nvPr/>
        </p:nvSpPr>
        <p:spPr>
          <a:xfrm>
            <a:off x="9454896" y="4343400"/>
            <a:ext cx="932688" cy="566928"/>
          </a:xfrm>
          <a:prstGeom prst="roundRect">
            <a:avLst>
              <a:gd name="adj" fmla="val 12903"/>
            </a:avLst>
          </a:prstGeom>
          <a:solidFill>
            <a:schemeClr val="accent1"/>
          </a:solidFill>
          <a:ln w="12700">
            <a:solidFill>
              <a:schemeClr val="accent1"/>
            </a:solidFill>
            <a:prstDash val="solid"/>
          </a:ln>
        </p:spPr>
      </p:sp>
      <p:sp>
        <p:nvSpPr>
          <p:cNvPr id="32" name="Text 30"/>
          <p:cNvSpPr txBox="1"/>
          <p:nvPr/>
        </p:nvSpPr>
        <p:spPr>
          <a:xfrm>
            <a:off x="9454896"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3" name="Shape 31"/>
          <p:cNvSpPr/>
          <p:nvPr/>
        </p:nvSpPr>
        <p:spPr>
          <a:xfrm>
            <a:off x="10533888" y="4343400"/>
            <a:ext cx="932688" cy="566928"/>
          </a:xfrm>
          <a:prstGeom prst="roundRect">
            <a:avLst>
              <a:gd name="adj" fmla="val 12903"/>
            </a:avLst>
          </a:prstGeom>
          <a:solidFill>
            <a:schemeClr val="accent1"/>
          </a:solidFill>
          <a:ln w="12700">
            <a:solidFill>
              <a:schemeClr val="accent1"/>
            </a:solidFill>
            <a:prstDash val="solid"/>
          </a:ln>
        </p:spPr>
      </p:sp>
      <p:sp>
        <p:nvSpPr>
          <p:cNvPr id="34" name="Text 32"/>
          <p:cNvSpPr txBox="1"/>
          <p:nvPr/>
        </p:nvSpPr>
        <p:spPr>
          <a:xfrm>
            <a:off x="10533888" y="4343400"/>
            <a:ext cx="932688" cy="566928"/>
          </a:xfrm>
          <a:prstGeom prst="rect">
            <a:avLst/>
          </a:prstGeom>
          <a:noFill/>
          <a:ln/>
        </p:spPr>
        <p:txBody>
          <a:bodyPr wrap="square" lIns="0" tIns="0" rIns="0" bIns="0" rtlCol="0" anchor="ctr"/>
          <a:lstStyle/>
          <a:p>
            <a:pPr algn="ctr" indent="0" marL="0">
              <a:buNone/>
            </a:pPr>
            <a:r>
              <a:rPr lang="en-US" sz="1300" b="1" dirty="0">
                <a:solidFill>
                  <a:schemeClr val="bg1"/>
                </a:solidFill>
              </a:rPr>
              <a:t>patch</a:t>
            </a:r>
            <a:endParaRPr lang="en-US" sz="1300" dirty="0"/>
          </a:p>
        </p:txBody>
      </p:sp>
      <p:sp>
        <p:nvSpPr>
          <p:cNvPr id="35" name="Text 33"/>
          <p:cNvSpPr txBox="1"/>
          <p:nvPr/>
        </p:nvSpPr>
        <p:spPr>
          <a:xfrm>
            <a:off x="822960" y="5120640"/>
            <a:ext cx="10607040" cy="731520"/>
          </a:xfrm>
          <a:prstGeom prst="rect">
            <a:avLst/>
          </a:prstGeom>
          <a:noFill/>
          <a:ln/>
        </p:spPr>
        <p:txBody>
          <a:bodyPr wrap="square" lIns="0" tIns="0" rIns="0" bIns="0" rtlCol="0" anchor="ctr"/>
          <a:lstStyle/>
          <a:p>
            <a:pPr indent="0" marL="0">
              <a:buNone/>
            </a:pPr>
            <a:r>
              <a:rPr lang="en-US" sz="1400" dirty="0">
                <a:solidFill>
                  <a:schemeClr val="accent5"/>
                </a:solidFill>
              </a:rPr>
              <a:t>Token sequence with registers: [CLS] is used for the prediction, the 4 registers are thrown away, patches describe the image. Cost: &lt; 2% extra compute.</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What we built</a:t>
            </a:r>
            <a:endParaRPr lang="en-US" sz="3200" dirty="0"/>
          </a:p>
        </p:txBody>
      </p:sp>
      <p:sp>
        <p:nvSpPr>
          <p:cNvPr id="3" name="card Part A: the paper's own models"/>
          <p:cNvSpPr/>
          <p:nvPr/>
        </p:nvSpPr>
        <p:spPr>
          <a:xfrm>
            <a:off x="548640" y="1371600"/>
            <a:ext cx="5394960" cy="2148840"/>
          </a:xfrm>
          <a:prstGeom prst="roundRect">
            <a:avLst>
              <a:gd name="adj" fmla="val 5106"/>
            </a:avLst>
          </a:prstGeom>
          <a:solidFill>
            <a:schemeClr val="bg2"/>
          </a:solidFill>
          <a:ln w="12700">
            <a:solidFill>
              <a:schemeClr val="bg2"/>
            </a:solidFill>
            <a:prstDash val="solid"/>
          </a:ln>
        </p:spPr>
      </p:sp>
      <p:sp>
        <p:nvSpPr>
          <p:cNvPr id="4" name="Shape 2"/>
          <p:cNvSpPr/>
          <p:nvPr/>
        </p:nvSpPr>
        <p:spPr>
          <a:xfrm>
            <a:off x="777240" y="1627632"/>
            <a:ext cx="329184" cy="329184"/>
          </a:xfrm>
          <a:prstGeom prst="ellipse">
            <a:avLst/>
          </a:prstGeom>
          <a:solidFill>
            <a:schemeClr val="accent1"/>
          </a:solidFill>
          <a:ln w="12700">
            <a:solidFill>
              <a:schemeClr val="accent1"/>
            </a:solidFill>
            <a:prstDash val="solid"/>
          </a:ln>
        </p:spPr>
      </p:sp>
      <p:sp>
        <p:nvSpPr>
          <p:cNvPr id="5" name="Text 3"/>
          <p:cNvSpPr txBox="1"/>
          <p:nvPr/>
        </p:nvSpPr>
        <p:spPr>
          <a:xfrm>
            <a:off x="1234440" y="1554480"/>
            <a:ext cx="4526280" cy="475488"/>
          </a:xfrm>
          <a:prstGeom prst="rect">
            <a:avLst/>
          </a:prstGeom>
          <a:noFill/>
          <a:ln/>
        </p:spPr>
        <p:txBody>
          <a:bodyPr wrap="square" lIns="0" tIns="0" rIns="0" bIns="0" rtlCol="0" anchor="ctr"/>
          <a:lstStyle/>
          <a:p>
            <a:pPr indent="0" marL="0">
              <a:buNone/>
            </a:pPr>
            <a:r>
              <a:rPr lang="en-US" sz="1700" b="1" dirty="0">
                <a:solidFill>
                  <a:schemeClr val="tx1"/>
                </a:solidFill>
              </a:rPr>
              <a:t>Part A: the paper's own models</a:t>
            </a:r>
            <a:endParaRPr lang="en-US" sz="1700" dirty="0"/>
          </a:p>
        </p:txBody>
      </p:sp>
      <p:sp>
        <p:nvSpPr>
          <p:cNvPr id="6" name="Text 4"/>
          <p:cNvSpPr txBox="1"/>
          <p:nvPr/>
        </p:nvSpPr>
        <p:spPr>
          <a:xfrm>
            <a:off x="777240" y="2148840"/>
            <a:ext cx="4937760" cy="1234440"/>
          </a:xfrm>
          <a:prstGeom prst="rect">
            <a:avLst/>
          </a:prstGeom>
          <a:noFill/>
          <a:ln/>
        </p:spPr>
        <p:txBody>
          <a:bodyPr wrap="square" lIns="0" tIns="0" rIns="0" bIns="0" rtlCol="0" anchor="t"/>
          <a:lstStyle/>
          <a:p>
            <a:pPr indent="0" marL="0">
              <a:buNone/>
            </a:pPr>
            <a:r>
              <a:rPr lang="en-US" sz="1400" dirty="0">
                <a:solidFill>
                  <a:schemeClr val="tx1"/>
                </a:solidFill>
              </a:rPr>
              <a:t>Meta's released DINOv2 S/B/L/g, each with and without registers. We measure token norms, outliers and attention maps exactly as the paper does.</a:t>
            </a:r>
            <a:endParaRPr lang="en-US" sz="1400" dirty="0"/>
          </a:p>
        </p:txBody>
      </p:sp>
      <p:sp>
        <p:nvSpPr>
          <p:cNvPr id="7" name="card Part B: our own ViT with registers"/>
          <p:cNvSpPr/>
          <p:nvPr/>
        </p:nvSpPr>
        <p:spPr>
          <a:xfrm>
            <a:off x="6245352" y="1371600"/>
            <a:ext cx="5394960" cy="2148840"/>
          </a:xfrm>
          <a:prstGeom prst="roundRect">
            <a:avLst>
              <a:gd name="adj" fmla="val 5106"/>
            </a:avLst>
          </a:prstGeom>
          <a:solidFill>
            <a:schemeClr val="bg2"/>
          </a:solidFill>
          <a:ln w="12700">
            <a:solidFill>
              <a:schemeClr val="bg2"/>
            </a:solidFill>
            <a:prstDash val="solid"/>
          </a:ln>
        </p:spPr>
      </p:sp>
      <p:sp>
        <p:nvSpPr>
          <p:cNvPr id="8" name="Shape 6"/>
          <p:cNvSpPr/>
          <p:nvPr/>
        </p:nvSpPr>
        <p:spPr>
          <a:xfrm>
            <a:off x="6473952" y="1627632"/>
            <a:ext cx="329184" cy="329184"/>
          </a:xfrm>
          <a:prstGeom prst="ellipse">
            <a:avLst/>
          </a:prstGeom>
          <a:solidFill>
            <a:schemeClr val="accent3"/>
          </a:solidFill>
          <a:ln w="12700">
            <a:solidFill>
              <a:schemeClr val="accent3"/>
            </a:solidFill>
            <a:prstDash val="solid"/>
          </a:ln>
        </p:spPr>
      </p:sp>
      <p:sp>
        <p:nvSpPr>
          <p:cNvPr id="9" name="Text 7"/>
          <p:cNvSpPr txBox="1"/>
          <p:nvPr/>
        </p:nvSpPr>
        <p:spPr>
          <a:xfrm>
            <a:off x="6931152" y="1554480"/>
            <a:ext cx="4526280" cy="475488"/>
          </a:xfrm>
          <a:prstGeom prst="rect">
            <a:avLst/>
          </a:prstGeom>
          <a:noFill/>
          <a:ln/>
        </p:spPr>
        <p:txBody>
          <a:bodyPr wrap="square" lIns="0" tIns="0" rIns="0" bIns="0" rtlCol="0" anchor="ctr"/>
          <a:lstStyle/>
          <a:p>
            <a:pPr indent="0" marL="0">
              <a:buNone/>
            </a:pPr>
            <a:r>
              <a:rPr lang="en-US" sz="1700" b="1" dirty="0">
                <a:solidFill>
                  <a:schemeClr val="tx1"/>
                </a:solidFill>
              </a:rPr>
              <a:t>Part B: our own ViT with registers</a:t>
            </a:r>
            <a:endParaRPr lang="en-US" sz="1700" dirty="0"/>
          </a:p>
        </p:txBody>
      </p:sp>
      <p:sp>
        <p:nvSpPr>
          <p:cNvPr id="10" name="Text 8"/>
          <p:cNvSpPr txBox="1"/>
          <p:nvPr/>
        </p:nvSpPr>
        <p:spPr>
          <a:xfrm>
            <a:off x="6473952" y="2148840"/>
            <a:ext cx="4937760" cy="1234440"/>
          </a:xfrm>
          <a:prstGeom prst="rect">
            <a:avLst/>
          </a:prstGeom>
          <a:noFill/>
          <a:ln/>
        </p:spPr>
        <p:txBody>
          <a:bodyPr wrap="square" lIns="0" tIns="0" rIns="0" bIns="0" rtlCol="0" anchor="t"/>
          <a:lstStyle/>
          <a:p>
            <a:pPr indent="0" marL="0">
              <a:buNone/>
            </a:pPr>
            <a:r>
              <a:rPr lang="en-US" sz="1400" dirty="0">
                <a:solidFill>
                  <a:schemeClr val="tx1"/>
                </a:solidFill>
              </a:rPr>
              <a:t>Written from scratch in PyTorch, trained on Tiny-ImageNet (100k images, 200 classes). 24 forward-pass checks, 15 unit tests, automatic CI.</a:t>
            </a:r>
            <a:endParaRPr lang="en-US" sz="1400" dirty="0"/>
          </a:p>
        </p:txBody>
      </p:sp>
      <p:sp>
        <p:nvSpPr>
          <p:cNvPr id="11" name="card Experiment: model size"/>
          <p:cNvSpPr/>
          <p:nvPr/>
        </p:nvSpPr>
        <p:spPr>
          <a:xfrm>
            <a:off x="548640" y="3749040"/>
            <a:ext cx="5394960" cy="2148840"/>
          </a:xfrm>
          <a:prstGeom prst="roundRect">
            <a:avLst>
              <a:gd name="adj" fmla="val 5106"/>
            </a:avLst>
          </a:prstGeom>
          <a:solidFill>
            <a:schemeClr val="bg2"/>
          </a:solidFill>
          <a:ln w="12700">
            <a:solidFill>
              <a:schemeClr val="bg2"/>
            </a:solidFill>
            <a:prstDash val="solid"/>
          </a:ln>
        </p:spPr>
      </p:sp>
      <p:sp>
        <p:nvSpPr>
          <p:cNvPr id="12" name="Shape 10"/>
          <p:cNvSpPr/>
          <p:nvPr/>
        </p:nvSpPr>
        <p:spPr>
          <a:xfrm>
            <a:off x="777240" y="4005072"/>
            <a:ext cx="329184" cy="329184"/>
          </a:xfrm>
          <a:prstGeom prst="ellipse">
            <a:avLst/>
          </a:prstGeom>
          <a:solidFill>
            <a:schemeClr val="accent2"/>
          </a:solidFill>
          <a:ln w="12700">
            <a:solidFill>
              <a:schemeClr val="accent2"/>
            </a:solidFill>
            <a:prstDash val="solid"/>
          </a:ln>
        </p:spPr>
      </p:sp>
      <p:sp>
        <p:nvSpPr>
          <p:cNvPr id="13" name="Text 11"/>
          <p:cNvSpPr txBox="1"/>
          <p:nvPr/>
        </p:nvSpPr>
        <p:spPr>
          <a:xfrm>
            <a:off x="1234440" y="3931920"/>
            <a:ext cx="4526280" cy="475488"/>
          </a:xfrm>
          <a:prstGeom prst="rect">
            <a:avLst/>
          </a:prstGeom>
          <a:noFill/>
          <a:ln/>
        </p:spPr>
        <p:txBody>
          <a:bodyPr wrap="square" lIns="0" tIns="0" rIns="0" bIns="0" rtlCol="0" anchor="ctr"/>
          <a:lstStyle/>
          <a:p>
            <a:pPr indent="0" marL="0">
              <a:buNone/>
            </a:pPr>
            <a:r>
              <a:rPr lang="en-US" sz="1700" b="1" dirty="0">
                <a:solidFill>
                  <a:schemeClr val="tx1"/>
                </a:solidFill>
              </a:rPr>
              <a:t>Experiment: model size</a:t>
            </a:r>
            <a:endParaRPr lang="en-US" sz="1700" dirty="0"/>
          </a:p>
        </p:txBody>
      </p:sp>
      <p:sp>
        <p:nvSpPr>
          <p:cNvPr id="14" name="Text 12"/>
          <p:cNvSpPr txBox="1"/>
          <p:nvPr/>
        </p:nvSpPr>
        <p:spPr>
          <a:xfrm>
            <a:off x="777240" y="4526280"/>
            <a:ext cx="4937760" cy="1234440"/>
          </a:xfrm>
          <a:prstGeom prst="rect">
            <a:avLst/>
          </a:prstGeom>
          <a:noFill/>
          <a:ln/>
        </p:spPr>
        <p:txBody>
          <a:bodyPr wrap="square" lIns="0" tIns="0" rIns="0" bIns="0" rtlCol="0" anchor="t"/>
          <a:lstStyle/>
          <a:p>
            <a:pPr indent="0" marL="0">
              <a:buNone/>
            </a:pPr>
            <a:r>
              <a:rPr lang="en-US" sz="1400" dirty="0">
                <a:solidFill>
                  <a:schemeClr val="tx1"/>
                </a:solidFill>
              </a:rPr>
              <a:t>Train ViTs of growing size with 0 and 4 registers and measure whether artifacts appear.</a:t>
            </a:r>
            <a:endParaRPr lang="en-US" sz="1400" dirty="0"/>
          </a:p>
        </p:txBody>
      </p:sp>
      <p:sp>
        <p:nvSpPr>
          <p:cNvPr id="15" name="card Deployment: FastAPI app"/>
          <p:cNvSpPr/>
          <p:nvPr/>
        </p:nvSpPr>
        <p:spPr>
          <a:xfrm>
            <a:off x="6245352" y="3749040"/>
            <a:ext cx="5394960" cy="2148840"/>
          </a:xfrm>
          <a:prstGeom prst="roundRect">
            <a:avLst>
              <a:gd name="adj" fmla="val 5106"/>
            </a:avLst>
          </a:prstGeom>
          <a:solidFill>
            <a:schemeClr val="bg2"/>
          </a:solidFill>
          <a:ln w="12700">
            <a:solidFill>
              <a:schemeClr val="bg2"/>
            </a:solidFill>
            <a:prstDash val="solid"/>
          </a:ln>
        </p:spPr>
      </p:sp>
      <p:sp>
        <p:nvSpPr>
          <p:cNvPr id="16" name="Shape 14"/>
          <p:cNvSpPr/>
          <p:nvPr/>
        </p:nvSpPr>
        <p:spPr>
          <a:xfrm>
            <a:off x="6473952" y="4005072"/>
            <a:ext cx="329184" cy="329184"/>
          </a:xfrm>
          <a:prstGeom prst="ellipse">
            <a:avLst/>
          </a:prstGeom>
          <a:solidFill>
            <a:schemeClr val="accent6"/>
          </a:solidFill>
          <a:ln w="12700">
            <a:solidFill>
              <a:schemeClr val="accent6"/>
            </a:solidFill>
            <a:prstDash val="solid"/>
          </a:ln>
        </p:spPr>
      </p:sp>
      <p:sp>
        <p:nvSpPr>
          <p:cNvPr id="17" name="Text 15"/>
          <p:cNvSpPr txBox="1"/>
          <p:nvPr/>
        </p:nvSpPr>
        <p:spPr>
          <a:xfrm>
            <a:off x="6931152" y="3931920"/>
            <a:ext cx="4526280" cy="475488"/>
          </a:xfrm>
          <a:prstGeom prst="rect">
            <a:avLst/>
          </a:prstGeom>
          <a:noFill/>
          <a:ln/>
        </p:spPr>
        <p:txBody>
          <a:bodyPr wrap="square" lIns="0" tIns="0" rIns="0" bIns="0" rtlCol="0" anchor="ctr"/>
          <a:lstStyle/>
          <a:p>
            <a:pPr indent="0" marL="0">
              <a:buNone/>
            </a:pPr>
            <a:r>
              <a:rPr lang="en-US" sz="1700" b="1" dirty="0">
                <a:solidFill>
                  <a:schemeClr val="tx1"/>
                </a:solidFill>
              </a:rPr>
              <a:t>Deployment: FastAPI app</a:t>
            </a:r>
            <a:endParaRPr lang="en-US" sz="1700" dirty="0"/>
          </a:p>
        </p:txBody>
      </p:sp>
      <p:sp>
        <p:nvSpPr>
          <p:cNvPr id="18" name="Text 16"/>
          <p:cNvSpPr txBox="1"/>
          <p:nvPr/>
        </p:nvSpPr>
        <p:spPr>
          <a:xfrm>
            <a:off x="6473952" y="4526280"/>
            <a:ext cx="4937760" cy="1234440"/>
          </a:xfrm>
          <a:prstGeom prst="rect">
            <a:avLst/>
          </a:prstGeom>
          <a:noFill/>
          <a:ln/>
        </p:spPr>
        <p:txBody>
          <a:bodyPr wrap="square" lIns="0" tIns="0" rIns="0" bIns="0" rtlCol="0" anchor="t"/>
          <a:lstStyle/>
          <a:p>
            <a:pPr indent="0" marL="0">
              <a:buNone/>
            </a:pPr>
            <a:r>
              <a:rPr lang="en-US" sz="1400" dirty="0">
                <a:solidFill>
                  <a:schemeClr val="tx1"/>
                </a:solidFill>
              </a:rPr>
              <a:t>Upload an image: our ViT-Tiny predicts the class, DINOv2 shows its maps without vs with registers.</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Reproduced: rare, huge tokens that registers remove</a:t>
            </a:r>
            <a:endParaRPr lang="en-US" sz="3200" dirty="0"/>
          </a:p>
        </p:txBody>
      </p:sp>
      <p:sp>
        <p:nvSpPr>
          <p:cNvPr id="3" name="stat of ViT-g patch tokens above the paper&amp;apos;s cutoff of 150 (paper: 2.37%)"/>
          <p:cNvSpPr txBox="1"/>
          <p:nvPr/>
        </p:nvSpPr>
        <p:spPr>
          <a:xfrm>
            <a:off x="548640" y="1417320"/>
            <a:ext cx="3291840" cy="868680"/>
          </a:xfrm>
          <a:prstGeom prst="rect">
            <a:avLst/>
          </a:prstGeom>
          <a:noFill/>
          <a:ln/>
        </p:spPr>
        <p:txBody>
          <a:bodyPr wrap="square" lIns="0" tIns="0" rIns="0" bIns="0" rtlCol="0" anchor="ctr"/>
          <a:lstStyle/>
          <a:p>
            <a:pPr indent="0" marL="0">
              <a:buNone/>
            </a:pPr>
            <a:r>
              <a:rPr lang="en-US" sz="4800" b="1" dirty="0">
                <a:solidFill>
                  <a:srgbClr val="FF7F0E"/>
                </a:solidFill>
                <a:latin typeface="Cambria" pitchFamily="34" charset="0"/>
                <a:ea typeface="Cambria" pitchFamily="34" charset="-122"/>
                <a:cs typeface="Cambria" pitchFamily="34" charset="-120"/>
              </a:rPr>
              <a:t>2.62%</a:t>
            </a:r>
            <a:endParaRPr lang="en-US" sz="4800" dirty="0"/>
          </a:p>
        </p:txBody>
      </p:sp>
      <p:sp>
        <p:nvSpPr>
          <p:cNvPr id="4" name="Text 2"/>
          <p:cNvSpPr txBox="1"/>
          <p:nvPr/>
        </p:nvSpPr>
        <p:spPr>
          <a:xfrm>
            <a:off x="548640" y="2286000"/>
            <a:ext cx="3291840" cy="548640"/>
          </a:xfrm>
          <a:prstGeom prst="rect">
            <a:avLst/>
          </a:prstGeom>
          <a:noFill/>
          <a:ln/>
        </p:spPr>
        <p:txBody>
          <a:bodyPr wrap="square" lIns="0" tIns="0" rIns="0" bIns="0" rtlCol="0" anchor="t"/>
          <a:lstStyle/>
          <a:p>
            <a:pPr indent="0" marL="0">
              <a:buNone/>
            </a:pPr>
            <a:r>
              <a:rPr lang="en-US" sz="1300" dirty="0">
                <a:solidFill>
                  <a:schemeClr val="accent5"/>
                </a:solidFill>
              </a:rPr>
              <a:t>of ViT-g patch tokens above the paper's cutoff of 150 (paper: 2.37%)</a:t>
            </a:r>
            <a:endParaRPr lang="en-US" sz="1300" dirty="0"/>
          </a:p>
        </p:txBody>
      </p:sp>
      <p:sp>
        <p:nvSpPr>
          <p:cNvPr id="5" name="stat outlier tokens in the same model trained with registers"/>
          <p:cNvSpPr txBox="1"/>
          <p:nvPr/>
        </p:nvSpPr>
        <p:spPr>
          <a:xfrm>
            <a:off x="548640" y="2971800"/>
            <a:ext cx="3291840" cy="868680"/>
          </a:xfrm>
          <a:prstGeom prst="rect">
            <a:avLst/>
          </a:prstGeom>
          <a:noFill/>
          <a:ln/>
        </p:spPr>
        <p:txBody>
          <a:bodyPr wrap="square" lIns="0" tIns="0" rIns="0" bIns="0" rtlCol="0" anchor="ctr"/>
          <a:lstStyle/>
          <a:p>
            <a:pPr indent="0" marL="0">
              <a:buNone/>
            </a:pPr>
            <a:r>
              <a:rPr lang="en-US" sz="4800" b="1" dirty="0">
                <a:solidFill>
                  <a:srgbClr val="1F77B4"/>
                </a:solidFill>
                <a:latin typeface="Cambria" pitchFamily="34" charset="0"/>
                <a:ea typeface="Cambria" pitchFamily="34" charset="-122"/>
                <a:cs typeface="Cambria" pitchFamily="34" charset="-120"/>
              </a:rPr>
              <a:t>0.00%</a:t>
            </a:r>
            <a:endParaRPr lang="en-US" sz="4800" dirty="0"/>
          </a:p>
        </p:txBody>
      </p:sp>
      <p:sp>
        <p:nvSpPr>
          <p:cNvPr id="6" name="Text 4"/>
          <p:cNvSpPr txBox="1"/>
          <p:nvPr/>
        </p:nvSpPr>
        <p:spPr>
          <a:xfrm>
            <a:off x="548640" y="3840480"/>
            <a:ext cx="3291840" cy="548640"/>
          </a:xfrm>
          <a:prstGeom prst="rect">
            <a:avLst/>
          </a:prstGeom>
          <a:noFill/>
          <a:ln/>
        </p:spPr>
        <p:txBody>
          <a:bodyPr wrap="square" lIns="0" tIns="0" rIns="0" bIns="0" rtlCol="0" anchor="t"/>
          <a:lstStyle/>
          <a:p>
            <a:pPr indent="0" marL="0">
              <a:buNone/>
            </a:pPr>
            <a:r>
              <a:rPr lang="en-US" sz="1300" dirty="0">
                <a:solidFill>
                  <a:schemeClr val="accent5"/>
                </a:solidFill>
              </a:rPr>
              <a:t>outlier tokens in the same model trained with registers</a:t>
            </a:r>
            <a:endParaRPr lang="en-US" sz="1300" dirty="0"/>
          </a:p>
        </p:txBody>
      </p:sp>
      <p:sp>
        <p:nvSpPr>
          <p:cNvPr id="7" name="stat largest token norm vs the median (before the final LayerNorm)"/>
          <p:cNvSpPr txBox="1"/>
          <p:nvPr/>
        </p:nvSpPr>
        <p:spPr>
          <a:xfrm>
            <a:off x="548640" y="4526280"/>
            <a:ext cx="3291840" cy="868680"/>
          </a:xfrm>
          <a:prstGeom prst="rect">
            <a:avLst/>
          </a:prstGeom>
          <a:noFill/>
          <a:ln/>
        </p:spPr>
        <p:txBody>
          <a:bodyPr wrap="square" lIns="0" tIns="0" rIns="0" bIns="0" rtlCol="0" anchor="ctr"/>
          <a:lstStyle/>
          <a:p>
            <a:pPr indent="0" marL="0">
              <a:buNone/>
            </a:pPr>
            <a:r>
              <a:rPr lang="en-US" sz="4800" b="1" dirty="0">
                <a:solidFill>
                  <a:schemeClr val="accent6"/>
                </a:solidFill>
                <a:latin typeface="Cambria" pitchFamily="34" charset="0"/>
                <a:ea typeface="Cambria" pitchFamily="34" charset="-122"/>
                <a:cs typeface="Cambria" pitchFamily="34" charset="-120"/>
              </a:rPr>
              <a:t>11.3×</a:t>
            </a:r>
            <a:endParaRPr lang="en-US" sz="4800" dirty="0"/>
          </a:p>
        </p:txBody>
      </p:sp>
      <p:sp>
        <p:nvSpPr>
          <p:cNvPr id="8" name="Text 6"/>
          <p:cNvSpPr txBox="1"/>
          <p:nvPr/>
        </p:nvSpPr>
        <p:spPr>
          <a:xfrm>
            <a:off x="548640" y="5394960"/>
            <a:ext cx="3291840" cy="548640"/>
          </a:xfrm>
          <a:prstGeom prst="rect">
            <a:avLst/>
          </a:prstGeom>
          <a:noFill/>
          <a:ln/>
        </p:spPr>
        <p:txBody>
          <a:bodyPr wrap="square" lIns="0" tIns="0" rIns="0" bIns="0" rtlCol="0" anchor="t"/>
          <a:lstStyle/>
          <a:p>
            <a:pPr indent="0" marL="0">
              <a:buNone/>
            </a:pPr>
            <a:r>
              <a:rPr lang="en-US" sz="1300" dirty="0">
                <a:solidFill>
                  <a:schemeClr val="accent5"/>
                </a:solidFill>
              </a:rPr>
              <a:t>largest token norm vs the median (before the final LayerNorm)</a:t>
            </a:r>
            <a:endParaRPr lang="en-US" sz="1300" dirty="0"/>
          </a:p>
        </p:txBody>
      </p:sp>
      <p:pic>
        <p:nvPicPr>
          <p:cNvPr id="9" name="norm histograms" descr="/home/claude/repo/results/figures/part_a_norm_histograms.png">    </p:cNvPr>
          <p:cNvPicPr>
            <a:picLocks noChangeAspect="1"/>
          </p:cNvPicPr>
          <p:nvPr/>
        </p:nvPicPr>
        <p:blipFill>
          <a:blip r:embed="rId1"/>
          <a:stretch>
            <a:fillRect/>
          </a:stretch>
        </p:blipFill>
        <p:spPr>
          <a:xfrm>
            <a:off x="4114800" y="2935333"/>
            <a:ext cx="7589520" cy="1535974"/>
          </a:xfrm>
          <a:prstGeom prst="rect">
            <a:avLst/>
          </a:prstGeom>
        </p:spPr>
      </p:pic>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Six claims checked against the paper</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657600"/>
                <a:gridCol w="1097280"/>
                <a:gridCol w="4572000"/>
                <a:gridCol w="1737360"/>
              </a:tblGrid>
              <a:tr h="566928">
                <a:tc>
                  <a:txBody>
                    <a:bodyPr/>
                    <a:lstStyle/>
                    <a:p>
                      <a:pPr indent="0" marL="0">
                        <a:buNone/>
                      </a:pPr>
                      <a:r>
                        <a:rPr lang="en-US" sz="1500" b="1" dirty="0">
                          <a:solidFill>
                            <a:schemeClr val="bg1"/>
                          </a:solidFill>
                        </a:rPr>
                        <a:t>Paper claim</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Paper</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Our evidence</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Reproduced?</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tx2"/>
                    </a:solidFill>
                  </a:tcPr>
                </a:tc>
              </a:tr>
              <a:tr h="566928">
                <a:tc>
                  <a:txBody>
                    <a:bodyPr/>
                    <a:lstStyle/>
                    <a:p>
                      <a:pPr indent="0" marL="0">
                        <a:buNone/>
                      </a:pPr>
                      <a:r>
                        <a:rPr lang="en-US" sz="1500" dirty="0">
                          <a:solidFill>
                            <a:schemeClr val="tx1"/>
                          </a:solidFill>
                        </a:rPr>
                        <a:t>Rare high-norm tokens exist</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Fig 3</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2.62% vs 2.37%</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b="1" dirty="0">
                          <a:solidFill>
                            <a:srgbClr val="21918C"/>
                          </a:solidFill>
                        </a:rPr>
                        <a:t>Yes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They sit on redundant background</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Fig 5a</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neighbour similarity 0.871 vs 0.662</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b="1" dirty="0">
                          <a:solidFill>
                            <a:srgbClr val="21918C"/>
                          </a:solidFill>
                        </a:rPr>
                        <a:t>Yes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Registers remove them</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Fig 7</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2.62% → 0.00%</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b="1" dirty="0">
                          <a:solidFill>
                            <a:srgbClr val="21918C"/>
                          </a:solidFill>
                        </a:rPr>
                        <a:t>Yes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Registers clean the attention maps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Fig 1</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same visual result</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b="1" dirty="0">
                          <a:solidFill>
                            <a:srgbClr val="21918C"/>
                          </a:solidFill>
                        </a:rPr>
                        <a:t>Yes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The large values move into registers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Fig 15</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one register at 1390 vs 108</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b="1" dirty="0">
                          <a:solidFill>
                            <a:srgbClr val="21918C"/>
                          </a:solidFill>
                        </a:rPr>
                        <a:t>Yes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r>
              <a:tr h="566928">
                <a:tc>
                  <a:txBody>
                    <a:bodyPr/>
                    <a:lstStyle/>
                    <a:p>
                      <a:pPr indent="0" marL="0">
                        <a:buNone/>
                      </a:pPr>
                      <a:r>
                        <a:rPr lang="en-US" sz="1500" dirty="0">
                          <a:solidFill>
                            <a:schemeClr val="tx1"/>
                          </a:solidFill>
                        </a:rPr>
                        <a:t>Outliers only in large models</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Fig 4c</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only in ViT-g (released S/B/L are distilled)</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c>
                  <a:txBody>
                    <a:bodyPr/>
                    <a:lstStyle/>
                    <a:p>
                      <a:pPr indent="0" marL="0">
                        <a:buNone/>
                      </a:pPr>
                      <a:r>
                        <a:rPr lang="en-US" sz="1500" b="1" dirty="0">
                          <a:solidFill>
                            <a:srgbClr val="FF7F0E"/>
                          </a:solidFill>
                        </a:rPr>
                        <a:t>Partly</a:t>
                      </a:r>
                      <a:endParaRPr lang="en-US" sz="1500" dirty="0"/>
                    </a:p>
                  </a:txBody>
                  <a:tcPr marL="91440" marR="91440" marT="45720" marB="45720" anchor="ctr">
                    <a:lnL w="6350" cap="flat" cmpd="sng" algn="ctr">
                      <a:solidFill>
                        <a:srgbClr val="E4E2EC"/>
                      </a:solidFill>
                      <a:prstDash val="solid"/>
                      <a:round/>
                      <a:headEnd type="none" w="med" len="med"/>
                      <a:tailEnd type="none" w="med" len="med"/>
                    </a:lnL>
                    <a:lnR w="6350" cap="flat" cmpd="sng" algn="ctr">
                      <a:solidFill>
                        <a:srgbClr val="E4E2EC"/>
                      </a:solidFill>
                      <a:prstDash val="solid"/>
                      <a:round/>
                      <a:headEnd type="none" w="med" len="med"/>
                      <a:tailEnd type="none" w="med" len="med"/>
                    </a:lnR>
                    <a:lnT w="6350" cap="flat" cmpd="sng" algn="ctr">
                      <a:solidFill>
                        <a:srgbClr val="E4E2EC"/>
                      </a:solidFill>
                      <a:prstDash val="solid"/>
                      <a:round/>
                      <a:headEnd type="none" w="med" len="med"/>
                      <a:tailEnd type="none" w="med" len="med"/>
                    </a:lnT>
                    <a:lnB w="6350" cap="flat" cmpd="sng" algn="ctr">
                      <a:solidFill>
                        <a:srgbClr val="E4E2EC"/>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Our ViT-Tiny: registers barely change accuracy</a:t>
            </a:r>
            <a:endParaRPr lang="en-US" sz="3200" dirty="0"/>
          </a:p>
        </p:txBody>
      </p:sp>
      <p:graphicFrame>
        <p:nvGraphicFramePr>
          <p:cNvPr id="3" name="Chart 0" descr=""/>
          <p:cNvGraphicFramePr/>
          <p:nvPr/>
        </p:nvGraphicFramePr>
        <p:xfrm>
          <a:off x="45720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stat without registers (Tiny-ImageNet, 50 epochs)"/>
          <p:cNvSpPr txBox="1"/>
          <p:nvPr/>
        </p:nvSpPr>
        <p:spPr>
          <a:xfrm>
            <a:off x="8321040" y="1463040"/>
            <a:ext cx="3383280" cy="868680"/>
          </a:xfrm>
          <a:prstGeom prst="rect">
            <a:avLst/>
          </a:prstGeom>
          <a:noFill/>
          <a:ln/>
        </p:spPr>
        <p:txBody>
          <a:bodyPr wrap="square" lIns="0" tIns="0" rIns="0" bIns="0" rtlCol="0" anchor="ctr"/>
          <a:lstStyle/>
          <a:p>
            <a:pPr indent="0" marL="0">
              <a:buNone/>
            </a:pPr>
            <a:r>
              <a:rPr lang="en-US" sz="4800" b="1" dirty="0">
                <a:solidFill>
                  <a:srgbClr val="FF7F0E"/>
                </a:solidFill>
                <a:latin typeface="Cambria" pitchFamily="34" charset="0"/>
                <a:ea typeface="Cambria" pitchFamily="34" charset="-122"/>
                <a:cs typeface="Cambria" pitchFamily="34" charset="-120"/>
              </a:rPr>
              <a:t>38.99%</a:t>
            </a:r>
            <a:endParaRPr lang="en-US" sz="4800" dirty="0"/>
          </a:p>
        </p:txBody>
      </p:sp>
      <p:sp>
        <p:nvSpPr>
          <p:cNvPr id="5" name="Text 2"/>
          <p:cNvSpPr txBox="1"/>
          <p:nvPr/>
        </p:nvSpPr>
        <p:spPr>
          <a:xfrm>
            <a:off x="8321040" y="2331720"/>
            <a:ext cx="3383280" cy="548640"/>
          </a:xfrm>
          <a:prstGeom prst="rect">
            <a:avLst/>
          </a:prstGeom>
          <a:noFill/>
          <a:ln/>
        </p:spPr>
        <p:txBody>
          <a:bodyPr wrap="square" lIns="0" tIns="0" rIns="0" bIns="0" rtlCol="0" anchor="t"/>
          <a:lstStyle/>
          <a:p>
            <a:pPr indent="0" marL="0">
              <a:buNone/>
            </a:pPr>
            <a:r>
              <a:rPr lang="en-US" sz="1300" dirty="0">
                <a:solidFill>
                  <a:schemeClr val="accent5"/>
                </a:solidFill>
              </a:rPr>
              <a:t>without registers (Tiny-ImageNet, 50 epochs)</a:t>
            </a:r>
            <a:endParaRPr lang="en-US" sz="1300" dirty="0"/>
          </a:p>
        </p:txBody>
      </p:sp>
      <p:sp>
        <p:nvSpPr>
          <p:cNvPr id="6" name="stat with 4 registers"/>
          <p:cNvSpPr txBox="1"/>
          <p:nvPr/>
        </p:nvSpPr>
        <p:spPr>
          <a:xfrm>
            <a:off x="8321040" y="2971800"/>
            <a:ext cx="3383280" cy="868680"/>
          </a:xfrm>
          <a:prstGeom prst="rect">
            <a:avLst/>
          </a:prstGeom>
          <a:noFill/>
          <a:ln/>
        </p:spPr>
        <p:txBody>
          <a:bodyPr wrap="square" lIns="0" tIns="0" rIns="0" bIns="0" rtlCol="0" anchor="ctr"/>
          <a:lstStyle/>
          <a:p>
            <a:pPr indent="0" marL="0">
              <a:buNone/>
            </a:pPr>
            <a:r>
              <a:rPr lang="en-US" sz="4800" b="1" dirty="0">
                <a:solidFill>
                  <a:srgbClr val="1F77B4"/>
                </a:solidFill>
                <a:latin typeface="Cambria" pitchFamily="34" charset="0"/>
                <a:ea typeface="Cambria" pitchFamily="34" charset="-122"/>
                <a:cs typeface="Cambria" pitchFamily="34" charset="-120"/>
              </a:rPr>
              <a:t>37.86%</a:t>
            </a:r>
            <a:endParaRPr lang="en-US" sz="4800" dirty="0"/>
          </a:p>
        </p:txBody>
      </p:sp>
      <p:sp>
        <p:nvSpPr>
          <p:cNvPr id="7" name="Text 4"/>
          <p:cNvSpPr txBox="1"/>
          <p:nvPr/>
        </p:nvSpPr>
        <p:spPr>
          <a:xfrm>
            <a:off x="8321040" y="3840480"/>
            <a:ext cx="3383280" cy="548640"/>
          </a:xfrm>
          <a:prstGeom prst="rect">
            <a:avLst/>
          </a:prstGeom>
          <a:noFill/>
          <a:ln/>
        </p:spPr>
        <p:txBody>
          <a:bodyPr wrap="square" lIns="0" tIns="0" rIns="0" bIns="0" rtlCol="0" anchor="t"/>
          <a:lstStyle/>
          <a:p>
            <a:pPr indent="0" marL="0">
              <a:buNone/>
            </a:pPr>
            <a:r>
              <a:rPr lang="en-US" sz="1300" dirty="0">
                <a:solidFill>
                  <a:schemeClr val="accent5"/>
                </a:solidFill>
              </a:rPr>
              <a:t>with 4 registers</a:t>
            </a:r>
            <a:endParaRPr lang="en-US" sz="1300" dirty="0"/>
          </a:p>
        </p:txBody>
      </p:sp>
      <p:sp>
        <p:nvSpPr>
          <p:cNvPr id="8" name="Text 5"/>
          <p:cNvSpPr txBox="1"/>
          <p:nvPr/>
        </p:nvSpPr>
        <p:spPr>
          <a:xfrm>
            <a:off x="8321040" y="4526280"/>
            <a:ext cx="3383280" cy="1463040"/>
          </a:xfrm>
          <a:prstGeom prst="rect">
            <a:avLst/>
          </a:prstGeom>
          <a:noFill/>
          <a:ln/>
        </p:spPr>
        <p:txBody>
          <a:bodyPr wrap="square" lIns="0" tIns="0" rIns="0" bIns="0" rtlCol="0" anchor="t"/>
          <a:lstStyle/>
          <a:p>
            <a:pPr indent="0" marL="0">
              <a:buNone/>
            </a:pPr>
            <a:r>
              <a:rPr lang="en-US" sz="1400" dirty="0">
                <a:solidFill>
                  <a:schemeClr val="tx1"/>
                </a:solidFill>
              </a:rPr>
              <a:t>Gap −1.13 points (lr 1e-3); −0.81 when retrained at lr 2.5e-4. The paper reports −0.1 to +0.5. One seed per setting.</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Our experiment: do small ViTs get artifacts?</a:t>
            </a:r>
            <a:endParaRPr lang="en-US" sz="3200" dirty="0"/>
          </a:p>
        </p:txBody>
      </p:sp>
      <p:sp>
        <p:nvSpPr>
          <p:cNvPr id="3" name="Text 1"/>
          <p:cNvSpPr txBox="1"/>
          <p:nvPr/>
        </p:nvSpPr>
        <p:spPr>
          <a:xfrm>
            <a:off x="548640" y="1325880"/>
            <a:ext cx="11064240" cy="914400"/>
          </a:xfrm>
          <a:prstGeom prst="rect">
            <a:avLst/>
          </a:prstGeom>
          <a:noFill/>
          <a:ln/>
        </p:spPr>
        <p:txBody>
          <a:bodyPr wrap="square" lIns="0" tIns="0" rIns="0" bIns="0" rtlCol="0" anchor="t"/>
          <a:lstStyle/>
          <a:p>
            <a:pPr indent="0" marL="0">
              <a:buNone/>
            </a:pPr>
            <a:r>
              <a:rPr lang="en-US" sz="2000" i="1" dirty="0">
                <a:solidFill>
                  <a:schemeClr val="accent6"/>
                </a:solidFill>
              </a:rPr>
              <a:t>Do high-norm artifacts appear in small ViTs trained from scratch, or only once models are large — and do registers do anything below that size?</a:t>
            </a:r>
            <a:endParaRPr lang="en-US" sz="2000" dirty="0"/>
          </a:p>
        </p:txBody>
      </p:sp>
      <p:sp>
        <p:nvSpPr>
          <p:cNvPr id="4" name="card Change"/>
          <p:cNvSpPr/>
          <p:nvPr/>
        </p:nvSpPr>
        <p:spPr>
          <a:xfrm>
            <a:off x="548640" y="2514600"/>
            <a:ext cx="3566160" cy="2377440"/>
          </a:xfrm>
          <a:prstGeom prst="roundRect">
            <a:avLst>
              <a:gd name="adj" fmla="val 4615"/>
            </a:avLst>
          </a:prstGeom>
          <a:solidFill>
            <a:schemeClr val="bg2"/>
          </a:solidFill>
          <a:ln w="12700">
            <a:solidFill>
              <a:schemeClr val="bg2"/>
            </a:solidFill>
            <a:prstDash val="solid"/>
          </a:ln>
        </p:spPr>
      </p:sp>
      <p:sp>
        <p:nvSpPr>
          <p:cNvPr id="5" name="Shape 3"/>
          <p:cNvSpPr/>
          <p:nvPr/>
        </p:nvSpPr>
        <p:spPr>
          <a:xfrm>
            <a:off x="777240" y="2770632"/>
            <a:ext cx="329184" cy="329184"/>
          </a:xfrm>
          <a:prstGeom prst="ellipse">
            <a:avLst/>
          </a:prstGeom>
          <a:solidFill>
            <a:schemeClr val="accent2"/>
          </a:solidFill>
          <a:ln w="12700">
            <a:solidFill>
              <a:schemeClr val="accent2"/>
            </a:solidFill>
            <a:prstDash val="solid"/>
          </a:ln>
        </p:spPr>
      </p:sp>
      <p:sp>
        <p:nvSpPr>
          <p:cNvPr id="6" name="Text 4"/>
          <p:cNvSpPr txBox="1"/>
          <p:nvPr/>
        </p:nvSpPr>
        <p:spPr>
          <a:xfrm>
            <a:off x="1234440" y="2697480"/>
            <a:ext cx="2697480" cy="475488"/>
          </a:xfrm>
          <a:prstGeom prst="rect">
            <a:avLst/>
          </a:prstGeom>
          <a:noFill/>
          <a:ln/>
        </p:spPr>
        <p:txBody>
          <a:bodyPr wrap="square" lIns="0" tIns="0" rIns="0" bIns="0" rtlCol="0" anchor="ctr"/>
          <a:lstStyle/>
          <a:p>
            <a:pPr indent="0" marL="0">
              <a:buNone/>
            </a:pPr>
            <a:r>
              <a:rPr lang="en-US" sz="1700" b="1" dirty="0">
                <a:solidFill>
                  <a:schemeClr val="tx1"/>
                </a:solidFill>
              </a:rPr>
              <a:t>Change</a:t>
            </a:r>
            <a:endParaRPr lang="en-US" sz="1700" dirty="0"/>
          </a:p>
        </p:txBody>
      </p:sp>
      <p:sp>
        <p:nvSpPr>
          <p:cNvPr id="7" name="Text 5"/>
          <p:cNvSpPr txBox="1"/>
          <p:nvPr/>
        </p:nvSpPr>
        <p:spPr>
          <a:xfrm>
            <a:off x="777240" y="3291840"/>
            <a:ext cx="3108960" cy="1463040"/>
          </a:xfrm>
          <a:prstGeom prst="rect">
            <a:avLst/>
          </a:prstGeom>
          <a:noFill/>
          <a:ln/>
        </p:spPr>
        <p:txBody>
          <a:bodyPr wrap="square" lIns="0" tIns="0" rIns="0" bIns="0" rtlCol="0" anchor="t"/>
          <a:lstStyle/>
          <a:p>
            <a:pPr indent="0" marL="0">
              <a:buNone/>
            </a:pPr>
            <a:r>
              <a:rPr lang="en-US" sz="1400" dirty="0">
                <a:solidFill>
                  <a:schemeClr val="tx1"/>
                </a:solidFill>
              </a:rPr>
              <a:t>Model size: ViT-Tiny (5.4M), ViT-Small (21.5M), ViT-Base (85.4M), each with 0 and 4 registers.</a:t>
            </a:r>
            <a:endParaRPr lang="en-US" sz="1400" dirty="0"/>
          </a:p>
        </p:txBody>
      </p:sp>
      <p:sp>
        <p:nvSpPr>
          <p:cNvPr id="8" name="card Keep fixed"/>
          <p:cNvSpPr/>
          <p:nvPr/>
        </p:nvSpPr>
        <p:spPr>
          <a:xfrm>
            <a:off x="4315968" y="2514600"/>
            <a:ext cx="3566160" cy="2377440"/>
          </a:xfrm>
          <a:prstGeom prst="roundRect">
            <a:avLst>
              <a:gd name="adj" fmla="val 4615"/>
            </a:avLst>
          </a:prstGeom>
          <a:solidFill>
            <a:schemeClr val="bg2"/>
          </a:solidFill>
          <a:ln w="12700">
            <a:solidFill>
              <a:schemeClr val="bg2"/>
            </a:solidFill>
            <a:prstDash val="solid"/>
          </a:ln>
        </p:spPr>
      </p:sp>
      <p:sp>
        <p:nvSpPr>
          <p:cNvPr id="9" name="Shape 7"/>
          <p:cNvSpPr/>
          <p:nvPr/>
        </p:nvSpPr>
        <p:spPr>
          <a:xfrm>
            <a:off x="4544568" y="2770632"/>
            <a:ext cx="329184" cy="329184"/>
          </a:xfrm>
          <a:prstGeom prst="ellipse">
            <a:avLst/>
          </a:prstGeom>
          <a:solidFill>
            <a:schemeClr val="accent1"/>
          </a:solidFill>
          <a:ln w="12700">
            <a:solidFill>
              <a:schemeClr val="accent1"/>
            </a:solidFill>
            <a:prstDash val="solid"/>
          </a:ln>
        </p:spPr>
      </p:sp>
      <p:sp>
        <p:nvSpPr>
          <p:cNvPr id="10" name="Text 8"/>
          <p:cNvSpPr txBox="1"/>
          <p:nvPr/>
        </p:nvSpPr>
        <p:spPr>
          <a:xfrm>
            <a:off x="5001768" y="2697480"/>
            <a:ext cx="2697480" cy="475488"/>
          </a:xfrm>
          <a:prstGeom prst="rect">
            <a:avLst/>
          </a:prstGeom>
          <a:noFill/>
          <a:ln/>
        </p:spPr>
        <p:txBody>
          <a:bodyPr wrap="square" lIns="0" tIns="0" rIns="0" bIns="0" rtlCol="0" anchor="ctr"/>
          <a:lstStyle/>
          <a:p>
            <a:pPr indent="0" marL="0">
              <a:buNone/>
            </a:pPr>
            <a:r>
              <a:rPr lang="en-US" sz="1700" b="1" dirty="0">
                <a:solidFill>
                  <a:schemeClr val="tx1"/>
                </a:solidFill>
              </a:rPr>
              <a:t>Keep fixed</a:t>
            </a:r>
            <a:endParaRPr lang="en-US" sz="1700" dirty="0"/>
          </a:p>
        </p:txBody>
      </p:sp>
      <p:sp>
        <p:nvSpPr>
          <p:cNvPr id="11" name="Text 9"/>
          <p:cNvSpPr txBox="1"/>
          <p:nvPr/>
        </p:nvSpPr>
        <p:spPr>
          <a:xfrm>
            <a:off x="4544568" y="3291840"/>
            <a:ext cx="3108960" cy="1463040"/>
          </a:xfrm>
          <a:prstGeom prst="rect">
            <a:avLst/>
          </a:prstGeom>
          <a:noFill/>
          <a:ln/>
        </p:spPr>
        <p:txBody>
          <a:bodyPr wrap="square" lIns="0" tIns="0" rIns="0" bIns="0" rtlCol="0" anchor="t"/>
          <a:lstStyle/>
          <a:p>
            <a:pPr indent="0" marL="0">
              <a:buNone/>
            </a:pPr>
            <a:r>
              <a:rPr lang="en-US" sz="1400" dirty="0">
                <a:solidFill>
                  <a:schemeClr val="tx1"/>
                </a:solidFill>
              </a:rPr>
              <a:t>Data (Tiny-ImageNet), recipe with lr 2.5e-4 for every size, 50 epochs, seed, patch size. Meta's DINOv2 S/B/L/g give the large end of the axis.</a:t>
            </a:r>
            <a:endParaRPr lang="en-US" sz="1400" dirty="0"/>
          </a:p>
        </p:txBody>
      </p:sp>
      <p:sp>
        <p:nvSpPr>
          <p:cNvPr id="12" name="card Measure"/>
          <p:cNvSpPr/>
          <p:nvPr/>
        </p:nvSpPr>
        <p:spPr>
          <a:xfrm>
            <a:off x="8083296" y="2514600"/>
            <a:ext cx="3566160" cy="2377440"/>
          </a:xfrm>
          <a:prstGeom prst="roundRect">
            <a:avLst>
              <a:gd name="adj" fmla="val 4615"/>
            </a:avLst>
          </a:prstGeom>
          <a:solidFill>
            <a:schemeClr val="bg2"/>
          </a:solidFill>
          <a:ln w="12700">
            <a:solidFill>
              <a:schemeClr val="bg2"/>
            </a:solidFill>
            <a:prstDash val="solid"/>
          </a:ln>
        </p:spPr>
      </p:sp>
      <p:sp>
        <p:nvSpPr>
          <p:cNvPr id="13" name="Shape 11"/>
          <p:cNvSpPr/>
          <p:nvPr/>
        </p:nvSpPr>
        <p:spPr>
          <a:xfrm>
            <a:off x="8311896" y="2770632"/>
            <a:ext cx="329184" cy="329184"/>
          </a:xfrm>
          <a:prstGeom prst="ellipse">
            <a:avLst/>
          </a:prstGeom>
          <a:solidFill>
            <a:schemeClr val="accent3"/>
          </a:solidFill>
          <a:ln w="12700">
            <a:solidFill>
              <a:schemeClr val="accent3"/>
            </a:solidFill>
            <a:prstDash val="solid"/>
          </a:ln>
        </p:spPr>
      </p:sp>
      <p:sp>
        <p:nvSpPr>
          <p:cNvPr id="14" name="Text 12"/>
          <p:cNvSpPr txBox="1"/>
          <p:nvPr/>
        </p:nvSpPr>
        <p:spPr>
          <a:xfrm>
            <a:off x="8769096" y="2697480"/>
            <a:ext cx="2697480" cy="475488"/>
          </a:xfrm>
          <a:prstGeom prst="rect">
            <a:avLst/>
          </a:prstGeom>
          <a:noFill/>
          <a:ln/>
        </p:spPr>
        <p:txBody>
          <a:bodyPr wrap="square" lIns="0" tIns="0" rIns="0" bIns="0" rtlCol="0" anchor="ctr"/>
          <a:lstStyle/>
          <a:p>
            <a:pPr indent="0" marL="0">
              <a:buNone/>
            </a:pPr>
            <a:r>
              <a:rPr lang="en-US" sz="1700" b="1" dirty="0">
                <a:solidFill>
                  <a:schemeClr val="tx1"/>
                </a:solidFill>
              </a:rPr>
              <a:t>Measure</a:t>
            </a:r>
            <a:endParaRPr lang="en-US" sz="1700" dirty="0"/>
          </a:p>
        </p:txBody>
      </p:sp>
      <p:sp>
        <p:nvSpPr>
          <p:cNvPr id="15" name="Text 13"/>
          <p:cNvSpPr txBox="1"/>
          <p:nvPr/>
        </p:nvSpPr>
        <p:spPr>
          <a:xfrm>
            <a:off x="8311896" y="3291840"/>
            <a:ext cx="3108960" cy="1463040"/>
          </a:xfrm>
          <a:prstGeom prst="rect">
            <a:avLst/>
          </a:prstGeom>
          <a:noFill/>
          <a:ln/>
        </p:spPr>
        <p:txBody>
          <a:bodyPr wrap="square" lIns="0" tIns="0" rIns="0" bIns="0" rtlCol="0" anchor="t"/>
          <a:lstStyle/>
          <a:p>
            <a:pPr indent="0" marL="0">
              <a:buNone/>
            </a:pPr>
            <a:r>
              <a:rPr lang="en-US" sz="1400" dirty="0">
                <a:solidFill>
                  <a:schemeClr val="tx1"/>
                </a:solidFill>
              </a:rPr>
              <a:t>Token norms after every block, % outliers (&gt; 3× median), how much attention the registers get, attention maps, accuracy.</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Result: no artifacts below the giant model</a:t>
            </a:r>
            <a:endParaRPr lang="en-US" sz="3200" dirty="0"/>
          </a:p>
        </p:txBody>
      </p:sp>
      <p:pic>
        <p:nvPicPr>
          <p:cNvPr id="3" name="experiment scaling figure" descr="/home/claude/repo/results/figures/experiment_scaling.png">    </p:cNvPr>
          <p:cNvPicPr>
            <a:picLocks noChangeAspect="1"/>
          </p:cNvPicPr>
          <p:nvPr/>
        </p:nvPicPr>
        <p:blipFill>
          <a:blip r:embed="rId1"/>
          <a:stretch>
            <a:fillRect/>
          </a:stretch>
        </p:blipFill>
        <p:spPr>
          <a:xfrm>
            <a:off x="457200" y="2319251"/>
            <a:ext cx="7863840" cy="2859578"/>
          </a:xfrm>
          <a:prstGeom prst="rect">
            <a:avLst/>
          </a:prstGeom>
        </p:spPr>
      </p:pic>
      <p:sp>
        <p:nvSpPr>
          <p:cNvPr id="4" name="Text 1"/>
          <p:cNvSpPr txBox="1"/>
          <p:nvPr/>
        </p:nvSpPr>
        <p:spPr>
          <a:xfrm>
            <a:off x="8549640" y="1463040"/>
            <a:ext cx="3108960" cy="4663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0 outlier tokens in all 6 of our models (5M–85M)</a:t>
            </a:r>
            <a:endParaRPr lang="en-US" sz="1500" dirty="0"/>
          </a:p>
          <a:p>
            <a:pPr marL="342900" indent="-342900">
              <a:spcAft>
                <a:spcPts val="800"/>
              </a:spcAft>
              <a:buSzPct val="100000"/>
              <a:buChar char="•"/>
            </a:pPr>
            <a:r>
              <a:rPr lang="en-US" sz="1500" dirty="0">
                <a:solidFill>
                  <a:schemeClr val="tx1"/>
                </a:solidFill>
              </a:rPr>
              <a:t>Largest token ≤ 2.64× the median (outlier line: 3×)</a:t>
            </a:r>
            <a:endParaRPr lang="en-US" sz="1500" dirty="0"/>
          </a:p>
          <a:p>
            <a:pPr marL="342900" indent="-342900">
              <a:spcAft>
                <a:spcPts val="800"/>
              </a:spcAft>
              <a:buSzPct val="100000"/>
              <a:buChar char="•"/>
            </a:pPr>
            <a:r>
              <a:rPr lang="en-US" sz="1500" dirty="0">
                <a:solidFill>
                  <a:schemeClr val="tx1"/>
                </a:solidFill>
              </a:rPr>
              <a:t>Clear outliers only in DINOv2 ViT-g (1.1B)</a:t>
            </a:r>
            <a:endParaRPr lang="en-US" sz="1500" dirty="0"/>
          </a:p>
          <a:p>
            <a:pPr marL="342900" indent="-342900">
              <a:spcAft>
                <a:spcPts val="800"/>
              </a:spcAft>
              <a:buSzPct val="100000"/>
              <a:buChar char="•"/>
            </a:pPr>
            <a:r>
              <a:rPr lang="en-US" sz="1500" dirty="0">
                <a:solidFill>
                  <a:schemeClr val="tx1"/>
                </a:solidFill>
              </a:rPr>
              <a:t>Fits the paper: artifacts need a large model and long training</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Without artifacts, registers sit idle</a:t>
            </a:r>
            <a:endParaRPr lang="en-US" sz="3200" dirty="0"/>
          </a:p>
        </p:txBody>
      </p:sp>
      <p:pic>
        <p:nvPicPr>
          <p:cNvPr id="3" name="layer norms figure" descr="/home/claude/repo/results/figures/experiment_layer_norms.png">    </p:cNvPr>
          <p:cNvPicPr>
            <a:picLocks noChangeAspect="1"/>
          </p:cNvPicPr>
          <p:nvPr/>
        </p:nvPicPr>
        <p:blipFill>
          <a:blip r:embed="rId1"/>
          <a:stretch>
            <a:fillRect/>
          </a:stretch>
        </p:blipFill>
        <p:spPr>
          <a:xfrm>
            <a:off x="457200" y="2145323"/>
            <a:ext cx="5486400" cy="3207434"/>
          </a:xfrm>
          <a:prstGeom prst="rect">
            <a:avLst/>
          </a:prstGeom>
        </p:spPr>
      </p:pic>
      <p:pic>
        <p:nvPicPr>
          <p:cNvPr id="4" name="accuracy and register use" descr="/home/claude/repo/results/figures/experiment_accuracy_registers.png">    </p:cNvPr>
          <p:cNvPicPr>
            <a:picLocks noChangeAspect="1"/>
          </p:cNvPicPr>
          <p:nvPr/>
        </p:nvPicPr>
        <p:blipFill>
          <a:blip r:embed="rId2"/>
          <a:stretch>
            <a:fillRect/>
          </a:stretch>
        </p:blipFill>
        <p:spPr>
          <a:xfrm>
            <a:off x="6126480" y="1739189"/>
            <a:ext cx="5577840" cy="2008022"/>
          </a:xfrm>
          <a:prstGeom prst="rect">
            <a:avLst/>
          </a:prstGeom>
        </p:spPr>
      </p:pic>
      <p:sp>
        <p:nvSpPr>
          <p:cNvPr id="5" name="Text 1"/>
          <p:cNvSpPr txBox="1"/>
          <p:nvPr/>
        </p:nvSpPr>
        <p:spPr>
          <a:xfrm>
            <a:off x="6126480" y="4343400"/>
            <a:ext cx="5577840" cy="1828800"/>
          </a:xfrm>
          <a:prstGeom prst="rect">
            <a:avLst/>
          </a:prstGeom>
          <a:noFill/>
          <a:ln/>
        </p:spPr>
        <p:txBody>
          <a:bodyPr wrap="square" lIns="0" tIns="0" rIns="0" bIns="0" rtlCol="0" anchor="t"/>
          <a:lstStyle/>
          <a:p>
            <a:pPr indent="0" marL="0">
              <a:buNone/>
            </a:pPr>
            <a:r>
              <a:rPr lang="en-US" sz="1200" dirty="0">
                <a:solidFill>
                  <a:schemeClr val="tx1"/>
                </a:solidFill>
              </a:rPr>
              <a:t>ViT-Tiny, 0 reg: 0.00% outliers, peak 3.19×</a:t>
            </a:r>
            <a:endParaRPr lang="en-US" sz="1200" dirty="0"/>
          </a:p>
          <a:p>
            <a:pPr indent="0" marL="0">
              <a:buNone/>
            </a:pPr>
            <a:r>
              <a:rPr lang="en-US" sz="1200" dirty="0">
                <a:solidFill>
                  <a:schemeClr val="tx1"/>
                </a:solidFill>
              </a:rPr>
              <a:t>ViT-Tiny, 4 reg: 0.00% outliers, peak 3.10×, 6.0% attention to registers (uniform 5.8%)</a:t>
            </a:r>
            <a:endParaRPr lang="en-US" sz="1200" dirty="0"/>
          </a:p>
          <a:p>
            <a:pPr indent="0" marL="0">
              <a:buNone/>
            </a:pPr>
            <a:r>
              <a:rPr lang="en-US" sz="1200" dirty="0">
                <a:solidFill>
                  <a:schemeClr val="tx1"/>
                </a:solidFill>
              </a:rPr>
              <a:t>ViT-Small, 0 reg: 0.00% outliers, peak 2.61×</a:t>
            </a:r>
            <a:endParaRPr lang="en-US" sz="1200" dirty="0"/>
          </a:p>
          <a:p>
            <a:pPr indent="0" marL="0">
              <a:buNone/>
            </a:pPr>
            <a:r>
              <a:rPr lang="en-US" sz="1200" dirty="0">
                <a:solidFill>
                  <a:schemeClr val="tx1"/>
                </a:solidFill>
              </a:rPr>
              <a:t>ViT-Small, 4 reg: 0.00% outliers, peak 2.69×, 5.7% attention to registers (uniform 5.8%)</a:t>
            </a:r>
            <a:endParaRPr lang="en-US" sz="1200" dirty="0"/>
          </a:p>
          <a:p>
            <a:pPr indent="0" marL="0">
              <a:buNone/>
            </a:pPr>
            <a:r>
              <a:rPr lang="en-US" sz="1200" dirty="0">
                <a:solidFill>
                  <a:schemeClr val="tx1"/>
                </a:solidFill>
              </a:rPr>
              <a:t>ViT-Base, 0 reg: 0.00% outliers, peak 2.50×</a:t>
            </a:r>
            <a:endParaRPr lang="en-US" sz="1200" dirty="0"/>
          </a:p>
          <a:p>
            <a:pPr indent="0" marL="0">
              <a:buNone/>
            </a:pPr>
            <a:r>
              <a:rPr lang="en-US" sz="1200" dirty="0">
                <a:solidFill>
                  <a:schemeClr val="tx1"/>
                </a:solidFill>
              </a:rPr>
              <a:t>ViT-Base, 4 reg: 0.00% outliers, peak 2.54×, 6.2% attention to registers (uniform 5.8%)</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A lesson on the way: the learning rate</a:t>
            </a:r>
            <a:endParaRPr lang="en-US" sz="3200" dirty="0"/>
          </a:p>
        </p:txBody>
      </p:sp>
      <p:pic>
        <p:nvPicPr>
          <p:cNvPr id="3" name="learning rate figure" descr="/home/claude/repo/results/figures/experiment_learning_rate.png">    </p:cNvPr>
          <p:cNvPicPr>
            <a:picLocks noChangeAspect="1"/>
          </p:cNvPicPr>
          <p:nvPr/>
        </p:nvPicPr>
        <p:blipFill>
          <a:blip r:embed="rId1"/>
          <a:stretch>
            <a:fillRect/>
          </a:stretch>
        </p:blipFill>
        <p:spPr>
          <a:xfrm>
            <a:off x="457200" y="1637211"/>
            <a:ext cx="11247120" cy="3034937"/>
          </a:xfrm>
          <a:prstGeom prst="rect">
            <a:avLst/>
          </a:prstGeom>
        </p:spPr>
      </p:pic>
      <p:sp>
        <p:nvSpPr>
          <p:cNvPr id="4" name="Text 1"/>
          <p:cNvSpPr txBox="1"/>
          <p:nvPr/>
        </p:nvSpPr>
        <p:spPr>
          <a:xfrm>
            <a:off x="548640" y="5120640"/>
            <a:ext cx="1106424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At lr 1e-3 (dashed), ViT-Base collapses after the warm-up and ends at 8.6–10.3%; ViT-Small trains worse</a:t>
            </a:r>
            <a:endParaRPr lang="en-US" sz="1500" dirty="0"/>
          </a:p>
          <a:p>
            <a:pPr marL="342900" indent="-342900">
              <a:spcAft>
                <a:spcPts val="800"/>
              </a:spcAft>
              <a:buSzPct val="100000"/>
              <a:buChar char="•"/>
            </a:pPr>
            <a:r>
              <a:rPr lang="en-US" sz="1500" dirty="0">
                <a:solidFill>
                  <a:schemeClr val="tx1"/>
                </a:solidFill>
              </a:rPr>
              <a:t>At lr 2.5e-4 (solid; DeiT's rule for batch 256), every size trains normally: about 39–40%</a:t>
            </a:r>
            <a:endParaRPr lang="en-US" sz="1500" dirty="0"/>
          </a:p>
          <a:p>
            <a:pPr marL="342900" indent="-342900">
              <a:spcAft>
                <a:spcPts val="800"/>
              </a:spcAft>
              <a:buSzPct val="100000"/>
              <a:buChar char="•"/>
            </a:pPr>
            <a:r>
              <a:rPr lang="en-US" sz="1500" dirty="0">
                <a:solidFill>
                  <a:schemeClr val="tx1"/>
                </a:solidFill>
              </a:rPr>
              <a:t>We retrained all six models at 2.5e-4 before comparing, and kept the failed runs as a result</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1"/>
                </a:solidFill>
              </a:rPr>
              <a:t>Deployment: try it on any photo</a:t>
            </a:r>
            <a:endParaRPr lang="en-US" sz="3200" dirty="0"/>
          </a:p>
        </p:txBody>
      </p:sp>
      <p:pic>
        <p:nvPicPr>
          <p:cNvPr id="3" name="app screenshot" descr="/home/claude/repo/results/figures/deployment_screenshot.png">    </p:cNvPr>
          <p:cNvPicPr>
            <a:picLocks noChangeAspect="1"/>
          </p:cNvPicPr>
          <p:nvPr/>
        </p:nvPicPr>
        <p:blipFill>
          <a:blip r:embed="rId1"/>
          <a:stretch>
            <a:fillRect/>
          </a:stretch>
        </p:blipFill>
        <p:spPr>
          <a:xfrm>
            <a:off x="1841443" y="1280160"/>
            <a:ext cx="4180954" cy="4937760"/>
          </a:xfrm>
          <a:prstGeom prst="rect">
            <a:avLst/>
          </a:prstGeom>
        </p:spPr>
      </p:pic>
      <p:sp>
        <p:nvSpPr>
          <p:cNvPr id="4" name="Text 1"/>
          <p:cNvSpPr txBox="1"/>
          <p:nvPr/>
        </p:nvSpPr>
        <p:spPr>
          <a:xfrm>
            <a:off x="7680960" y="1463040"/>
            <a:ext cx="4023360" cy="4663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FastAPI app: web page, POST /predict, /health, /docs</a:t>
            </a:r>
            <a:endParaRPr lang="en-US" sz="1500" dirty="0"/>
          </a:p>
          <a:p>
            <a:pPr marL="342900" indent="-342900">
              <a:spcAft>
                <a:spcPts val="800"/>
              </a:spcAft>
              <a:buSzPct val="100000"/>
              <a:buChar char="•"/>
            </a:pPr>
            <a:r>
              <a:rPr lang="en-US" sz="1500" dirty="0">
                <a:solidFill>
                  <a:schemeClr val="tx1"/>
                </a:solidFill>
              </a:rPr>
              <a:t>Our ViT-Tiny (0 and 4 registers) gives the top-5 classes</a:t>
            </a:r>
            <a:endParaRPr lang="en-US" sz="1500" dirty="0"/>
          </a:p>
          <a:p>
            <a:pPr marL="342900" indent="-342900">
              <a:spcAft>
                <a:spcPts val="800"/>
              </a:spcAft>
              <a:buSzPct val="100000"/>
              <a:buChar char="•"/>
            </a:pPr>
            <a:r>
              <a:rPr lang="en-US" sz="1500" dirty="0">
                <a:solidFill>
                  <a:schemeClr val="tx1"/>
                </a:solidFill>
              </a:rPr>
              <a:t>DINOv2 without vs with registers: attention map, norm map and outlier count (size S/B/L/G)</a:t>
            </a:r>
            <a:endParaRPr lang="en-US" sz="1500" dirty="0"/>
          </a:p>
          <a:p>
            <a:pPr marL="342900" indent="-342900">
              <a:spcAft>
                <a:spcPts val="800"/>
              </a:spcAft>
              <a:buSzPct val="100000"/>
              <a:buChar char="•"/>
            </a:pPr>
            <a:r>
              <a:rPr lang="en-US" sz="1500" dirty="0">
                <a:solidFill>
                  <a:schemeClr val="tx1"/>
                </a:solidFill>
              </a:rPr>
              <a:t>Here, DINOv2-L: without registers it stares at one sky patch; with registers it looks at the grass</a:t>
            </a:r>
            <a:endParaRPr lang="en-US" sz="1500" dirty="0"/>
          </a:p>
          <a:p>
            <a:pPr marL="342900" indent="-342900">
              <a:spcAft>
                <a:spcPts val="800"/>
              </a:spcAft>
              <a:buSzPct val="100000"/>
              <a:buChar char="•"/>
            </a:pPr>
            <a:r>
              <a:rPr lang="en-US" sz="1500" dirty="0">
                <a:solidFill>
                  <a:schemeClr val="tx1"/>
                </a:solidFill>
              </a:rPr>
              <a:t>Bad uploads rejected (400 / 413); 5 automated tests</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645920"/>
          </a:xfrm>
          <a:prstGeom prst="rect">
            <a:avLst/>
          </a:prstGeom>
          <a:noFill/>
          <a:ln/>
        </p:spPr>
        <p:txBody>
          <a:bodyPr wrap="square" rtlCol="0" anchor="b"/>
          <a:lstStyle/>
          <a:p>
            <a:pPr algn="l" indent="0" marL="0">
              <a:buNone/>
            </a:pPr>
            <a:r>
              <a:rPr lang="en-US" sz="4400" b="1" dirty="0">
                <a:solidFill>
                  <a:schemeClr val="bg1"/>
                </a:solidFill>
              </a:rPr>
              <a:t>What we learned</a:t>
            </a:r>
            <a:endParaRPr lang="en-US" sz="4400" dirty="0"/>
          </a:p>
        </p:txBody>
      </p:sp>
      <p:sp>
        <p:nvSpPr>
          <p:cNvPr id="3" name="Text 0"/>
          <p:cNvSpPr/>
          <p:nvPr>
            <p:ph idx="101" type="body" hasCustomPrompt="1"/>
          </p:nvPr>
        </p:nvSpPr>
        <p:spPr>
          <a:xfrm>
            <a:off x="731520" y="3703320"/>
            <a:ext cx="10698480" cy="1463040"/>
          </a:xfrm>
          <a:prstGeom prst="rect">
            <a:avLst/>
          </a:prstGeom>
          <a:noFill/>
          <a:ln/>
        </p:spPr>
        <p:txBody>
          <a:bodyPr wrap="square" rtlCol="0" anchor="t"/>
          <a:lstStyle/>
          <a:p>
            <a:pPr marL="342900" indent="-342900">
              <a:spcAft>
                <a:spcPts val="600"/>
              </a:spcAft>
              <a:buSzPct val="100000"/>
              <a:buChar char="•"/>
            </a:pPr>
            <a:r>
              <a:rPr lang="en-US" sz="1800" dirty="0">
                <a:solidFill>
                  <a:schemeClr val="bg2"/>
                </a:solidFill>
              </a:rPr>
              <a:t>The paper's diagnosis reproduces: 2.62% outliers in DINOv2 ViT-g (paper 2.37%), 0% with registers</a:t>
            </a:r>
            <a:endParaRPr lang="en-US" sz="1800" dirty="0"/>
          </a:p>
          <a:p>
            <a:pPr marL="342900" indent="-342900">
              <a:spcAft>
                <a:spcPts val="600"/>
              </a:spcAft>
              <a:buSzPct val="100000"/>
              <a:buChar char="•"/>
            </a:pPr>
            <a:r>
              <a:rPr lang="en-US" sz="1800" dirty="0">
                <a:solidFill>
                  <a:schemeClr val="bg2"/>
                </a:solidFill>
              </a:rPr>
              <a:t>Measure norms before the final LayerNorm, or the artifacts are invisible</a:t>
            </a:r>
            <a:endParaRPr lang="en-US" sz="1800" dirty="0"/>
          </a:p>
          <a:p>
            <a:pPr marL="342900" indent="-342900">
              <a:spcAft>
                <a:spcPts val="600"/>
              </a:spcAft>
              <a:buSzPct val="100000"/>
              <a:buChar char="•"/>
            </a:pPr>
            <a:r>
              <a:rPr lang="en-US" sz="1800" dirty="0">
                <a:solidFill>
                  <a:schemeClr val="bg2"/>
                </a:solidFill>
              </a:rPr>
              <a:t>Our ViTs (5M–85M, from scratch): no artifacts, registers idle, accuracy within ±1 point</a:t>
            </a:r>
            <a:endParaRPr lang="en-US" sz="1800" dirty="0"/>
          </a:p>
          <a:p>
            <a:pPr marL="342900" indent="-342900">
              <a:spcAft>
                <a:spcPts val="600"/>
              </a:spcAft>
              <a:buSzPct val="100000"/>
              <a:buChar char="•"/>
            </a:pPr>
            <a:r>
              <a:rPr lang="en-US" sz="1800" dirty="0">
                <a:solidFill>
                  <a:schemeClr val="bg2"/>
                </a:solidFill>
              </a:rPr>
              <a:t>Lesson: fix the training recipe for the largest model before comparing sizes</a:t>
            </a:r>
            <a:endParaRPr lang="en-US" sz="1800" dirty="0"/>
          </a:p>
          <a:p>
            <a:pPr marL="342900" indent="-342900">
              <a:spcAft>
                <a:spcPts val="600"/>
              </a:spcAft>
              <a:buSzPct val="100000"/>
              <a:buChar char="•"/>
            </a:pPr>
            <a:r>
              <a:rPr lang="en-US" sz="1800" dirty="0">
                <a:solidFill>
                  <a:schemeClr val="bg2"/>
                </a:solidFill>
              </a:rPr>
              <a:t>Limits: Colab GPUs, Tiny-ImageNet, one seed; downstream gains not tested</a:t>
            </a:r>
            <a:endParaRPr lang="en-US" sz="1800" dirty="0"/>
          </a:p>
        </p:txBody>
      </p:sp>
    </p:spTree>
  </p:cSld>
  <p:clrMapOvr>
    <a:masterClrMapping/>
  </p:clrMapOvr>
</p:sld>
</file>

<file path=ppt/theme/theme1.xml><?xml version="1.0" encoding="utf-8"?>
<a:theme xmlns:a="http://schemas.openxmlformats.org/drawingml/2006/main" name="Registers">
  <a:themeElements>
    <a:clrScheme name="Registers">
      <a:dk1>
        <a:srgbClr val="1C1A2B"/>
      </a:dk1>
      <a:lt1>
        <a:srgbClr val="FFFFFF"/>
      </a:lt1>
      <a:dk2>
        <a:srgbClr val="2A1F4D"/>
      </a:dk2>
      <a:lt2>
        <a:srgbClr val="F3F2F8"/>
      </a:lt2>
      <a:accent1>
        <a:srgbClr val="21918C"/>
      </a:accent1>
      <a:accent2>
        <a:srgbClr val="FF7F0E"/>
      </a:accent2>
      <a:accent3>
        <a:srgbClr val="1F77B4"/>
      </a:accent3>
      <a:accent4>
        <a:srgbClr val="FDE725"/>
      </a:accent4>
      <a:accent5>
        <a:srgbClr val="6B6880"/>
      </a:accent5>
      <a:accent6>
        <a:srgbClr val="440154"/>
      </a:accent6>
      <a:hlink>
        <a:srgbClr val="1F77B4"/>
      </a:hlink>
      <a:folHlink>
        <a:srgbClr val="6B6880"/>
      </a:folHlink>
    </a:clrScheme>
    <a:fontScheme name="Registe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Reproducing Vision Transformers Need Registers</dc:title>
  <dc:subject>PptxGenJS Presentation</dc:subject>
  <dc:creator>Muhammad Hamza Uzair (30544)  ·  Shaheer Ahmed (31543)</dc:creator>
  <cp:lastModifiedBy>Muhammad Hamza Uzair (30544)  ·  Shaheer Ahmed (31543)</cp:lastModifiedBy>
  <cp:revision>1</cp:revision>
  <dcterms:created xsi:type="dcterms:W3CDTF">2026-10-19T19:24:08Z</dcterms:created>
  <dcterms:modified xsi:type="dcterms:W3CDTF">2026-10-19T19:24:08Z</dcterms:modified>
</cp:coreProperties>
</file>